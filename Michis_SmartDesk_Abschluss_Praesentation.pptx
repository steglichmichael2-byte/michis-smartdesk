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5" d="100"/>
          <a:sy n="85" d="100"/>
        </p:scale>
        <p:origin x="139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436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0:45</a:t>
            </a:r>
          </a:p>
          <a:p>
            <a:endParaRPr/>
          </a:p>
          <a:p>
            <a:r>
              <a:t>Ich stelle heute Michi’s SmartDesk vor: einen prototypischen KI-Assistenten für interne IT-Support-Anfragen. Im Mittelpunkt stehen Entlastung des Service Desks, kontrollierte Antworten und die Frage, ob ein verantwortbarer Rollout möglich ist.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0:35</a:t>
            </a:r>
          </a:p>
          <a:p>
            <a:endParaRPr/>
          </a:p>
          <a:p>
            <a:r>
              <a:t>Kurzer Überblick: zuerst das Problem und das Zielbild, dann Umsetzung, Governance und Herausforderungen. Anschließend zeige ich den n8n-Prototyp live und schließe mit der Rollout-Empfehlung.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1:05</a:t>
            </a:r>
          </a:p>
          <a:p>
            <a:endParaRPr/>
          </a:p>
          <a:p>
            <a:r>
              <a:t>Im Ausgangsprozess kommen Standardanfragen über verschiedene Kanäle. Mitarbeitende recherchieren manuell, stellen Rückfragen und leiten Fälle weiter. Das kostet Zeit und erschwert eine vollständige Dokumentation. Die Werte sind die Ausgangsdaten der Fallakte.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1:10</a:t>
            </a:r>
          </a:p>
          <a:p>
            <a:endParaRPr/>
          </a:p>
          <a:p>
            <a:r>
              <a:t>Der Zielprozess nimmt eine Anfrage strukturiert auf und sucht nur in freigegebenen Notion-Einträgen. Bei einem Treffer formuliert die KI einen Vorschlag, der vor Ausgabe geprüft wird. Ohne Treffer wird die Anfrage an First Level weitergeleitet. Schwierige Fälle gehen an Second Level.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1:10</a:t>
            </a:r>
          </a:p>
          <a:p>
            <a:endParaRPr/>
          </a:p>
          <a:p>
            <a:r>
              <a:t>Für die Einführung braucht es mehr als einen funktionierenden Workflow: abgestimmte Rollen, freigegebene Wissensartikel, Testfälle, Pilot-KPIs und Beteiligung der Mitarbeitenden. Die acht Projekttage haben Planung, Governance, n8n-Prototyp und fiktive Pilotauswertung abgedeckt.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1:15</a:t>
            </a:r>
          </a:p>
          <a:p>
            <a:endParaRPr/>
          </a:p>
          <a:p>
            <a:r>
              <a:t>Die KI nutzt nur freigegebene Wissenseinträge und darf keine eigenen Lösungswege erfinden. Menschliche Freigabe ist Pflicht. Sensible Anfragen müssen vor Modellverarbeitung ausgeschlossen werden. Datenschutz, Protokollierung und technische Abschaltung sind vor einem echten Rollout verbindlich umzusetzen.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0:55</a:t>
            </a:r>
          </a:p>
          <a:p>
            <a:endParaRPr/>
          </a:p>
          <a:p>
            <a:r>
              <a:t>Im Prototyp startet ein n8n-Formular den Prozess. n8n orchestriert Notion-Abfrage, Bedingung, KI-Agent und Freigabe. Notion ist die freigegebene Wissensbasis. Das Groq-angebundenen Sprachmodell formuliert die Antwort. Gmail versendet die strukturierte Anfrage im Kein-Treffer-Fall.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1:05</a:t>
            </a:r>
          </a:p>
          <a:p>
            <a:endParaRPr/>
          </a:p>
          <a:p>
            <a:r>
              <a:t>Wir haben die wichtigsten Fälle getestet: Treffer, kein Treffer, Freigabe, Ablehnung, Eskalation und Fallback. Ein technischer Notion-Ausfall wird bisher nicht sauber von einem echten Nicht-Treffer unterschieden. Die Suche nutzt exakte Betreffe; zentrale Protokollierung, Rollen und sensible Filter sind noch offen.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3:15</a:t>
            </a:r>
          </a:p>
          <a:p>
            <a:endParaRPr/>
          </a:p>
          <a:p>
            <a:r>
              <a:t>Für die Live-Demo n8n bereits geöffnet halten. Zuerst den Workflow von Formular über Notion und IF bis zur Freigabe zeigen. Dann eine bekannte Anfrage „Passwort zurücksetzen“ testen und die KI-Antwort freigeben. Anschließend kurz den Kein-Treffer-Pfad mit Gmail und den Second-Level-/Notion-Rückfluss erläutern. Falls live etwas hakt: auf Workflow-Ansicht und vorhandene Testprotokolle zurückgreifen. Keine realen personenbezogenen Daten verwenden.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1:00</a:t>
            </a:r>
          </a:p>
          <a:p>
            <a:endParaRPr/>
          </a:p>
          <a:p>
            <a:r>
              <a:t>Die fiktive Pilotauswertung zeigt eine deutliche Verbesserung bei Reaktionszeit und Dokumentation. Die Bearbeitungszeit sinkt, verfehlt das strengere Ziel von maximal acht Minuten aber knapp. Bei Sicherheit wurden null ungeprüft versendete Antworten und null verarbeitete sensible Tickets berichtet. Diese Zahlen sind Fallvorgaben, nicht live im n8n-Prototyp gemessen.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Sprechernotizen – ca. 0:45</a:t>
            </a:r>
          </a:p>
          <a:p>
            <a:endParaRPr/>
          </a:p>
          <a:p>
            <a:r>
              <a:t>Mein Fazit ist ein schrittweiser Rollout unter Bedingungen. Der Nutzen ist plausibel: kürzere Reaktionszeiten und bessere Dokumentation. Vor einer breiteren Einführung müssen Fehlerpfad, sensibler Vorfilter, Logging, klare Berechtigungen und Wissenpflege umgesetzt und überprüft werden. Der Mensch bleibt in der Entscheidung. Vielen Dank – ich freue mich auf Fragen.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pic>
        <p:nvPicPr>
          <p:cNvPr id="2" name="Picture 1" descr="ea8d1c34-ea23-4ed6-97bc-39927c899695.png"/>
          <p:cNvPicPr>
            <a:picLocks noChangeAspect="1"/>
          </p:cNvPicPr>
          <p:nvPr/>
        </p:nvPicPr>
        <p:blipFill>
          <a:blip r:embed="rId3"/>
          <a:stretch>
            <a:fillRect/>
          </a:stretch>
        </p:blipFill>
        <p:spPr>
          <a:xfrm>
            <a:off x="-28355" y="0"/>
            <a:ext cx="12248406" cy="6857999"/>
          </a:xfrm>
          <a:prstGeom prst="rect">
            <a:avLst/>
          </a:prstGeom>
        </p:spPr>
      </p:pic>
      <p:sp>
        <p:nvSpPr>
          <p:cNvPr id="3" name="TextBox 2"/>
          <p:cNvSpPr txBox="1"/>
          <p:nvPr/>
        </p:nvSpPr>
        <p:spPr>
          <a:xfrm>
            <a:off x="11688775" y="6528816"/>
            <a:ext cx="347472" cy="201168"/>
          </a:xfrm>
          <a:prstGeom prst="rect">
            <a:avLst/>
          </a:prstGeom>
          <a:noFill/>
        </p:spPr>
        <p:txBody>
          <a:bodyPr wrap="none">
            <a:spAutoFit/>
          </a:bodyPr>
          <a:lstStyle/>
          <a:p>
            <a:pPr>
              <a:defRPr sz="1000">
                <a:solidFill>
                  <a:srgbClr val="FFFFFF"/>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Agenda</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15 Minuten inklusive Live-Demo</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02  /  11</a:t>
            </a:r>
          </a:p>
        </p:txBody>
      </p:sp>
      <p:sp>
        <p:nvSpPr>
          <p:cNvPr id="8" name="Rounded Rectangle 7"/>
          <p:cNvSpPr/>
          <p:nvPr/>
        </p:nvSpPr>
        <p:spPr>
          <a:xfrm>
            <a:off x="749808" y="2029968"/>
            <a:ext cx="10652760" cy="5943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130552"/>
            <a:ext cx="731520" cy="274320"/>
          </a:xfrm>
          <a:prstGeom prst="rect">
            <a:avLst/>
          </a:prstGeom>
          <a:noFill/>
        </p:spPr>
        <p:txBody>
          <a:bodyPr wrap="square">
            <a:spAutoFit/>
          </a:bodyPr>
          <a:lstStyle/>
          <a:p>
            <a:pPr>
              <a:spcAft>
                <a:spcPts val="800"/>
              </a:spcAft>
              <a:defRPr sz="1700" b="1">
                <a:solidFill>
                  <a:srgbClr val="30D8BB"/>
                </a:solidFill>
                <a:latin typeface="Aptos"/>
              </a:defRPr>
            </a:pPr>
            <a:r>
              <a:t>01</a:t>
            </a:r>
          </a:p>
        </p:txBody>
      </p:sp>
      <p:sp>
        <p:nvSpPr>
          <p:cNvPr id="10" name="TextBox 9"/>
          <p:cNvSpPr txBox="1"/>
          <p:nvPr/>
        </p:nvSpPr>
        <p:spPr>
          <a:xfrm>
            <a:off x="1856231" y="2121408"/>
            <a:ext cx="8229600" cy="338328"/>
          </a:xfrm>
          <a:prstGeom prst="rect">
            <a:avLst/>
          </a:prstGeom>
          <a:noFill/>
        </p:spPr>
        <p:txBody>
          <a:bodyPr wrap="square">
            <a:spAutoFit/>
          </a:bodyPr>
          <a:lstStyle/>
          <a:p>
            <a:pPr>
              <a:spcAft>
                <a:spcPts val="800"/>
              </a:spcAft>
              <a:defRPr sz="1900" b="0">
                <a:solidFill>
                  <a:srgbClr val="F5F8FC"/>
                </a:solidFill>
                <a:latin typeface="Aptos"/>
              </a:defRPr>
            </a:pPr>
            <a:r>
              <a:t>Ausgangslage &amp; Vision</a:t>
            </a:r>
          </a:p>
        </p:txBody>
      </p:sp>
      <p:sp>
        <p:nvSpPr>
          <p:cNvPr id="11" name="Rounded Rectangle 10"/>
          <p:cNvSpPr/>
          <p:nvPr/>
        </p:nvSpPr>
        <p:spPr>
          <a:xfrm>
            <a:off x="749808" y="2779776"/>
            <a:ext cx="10652760" cy="5943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2880360"/>
            <a:ext cx="731520" cy="274320"/>
          </a:xfrm>
          <a:prstGeom prst="rect">
            <a:avLst/>
          </a:prstGeom>
          <a:noFill/>
        </p:spPr>
        <p:txBody>
          <a:bodyPr wrap="square">
            <a:spAutoFit/>
          </a:bodyPr>
          <a:lstStyle/>
          <a:p>
            <a:pPr>
              <a:spcAft>
                <a:spcPts val="800"/>
              </a:spcAft>
              <a:defRPr sz="1700" b="1">
                <a:solidFill>
                  <a:srgbClr val="30D8BB"/>
                </a:solidFill>
                <a:latin typeface="Aptos"/>
              </a:defRPr>
            </a:pPr>
            <a:r>
              <a:t>02</a:t>
            </a:r>
          </a:p>
        </p:txBody>
      </p:sp>
      <p:sp>
        <p:nvSpPr>
          <p:cNvPr id="13" name="TextBox 12"/>
          <p:cNvSpPr txBox="1"/>
          <p:nvPr/>
        </p:nvSpPr>
        <p:spPr>
          <a:xfrm>
            <a:off x="1856231" y="2871216"/>
            <a:ext cx="8229600" cy="338328"/>
          </a:xfrm>
          <a:prstGeom prst="rect">
            <a:avLst/>
          </a:prstGeom>
          <a:noFill/>
        </p:spPr>
        <p:txBody>
          <a:bodyPr wrap="square">
            <a:spAutoFit/>
          </a:bodyPr>
          <a:lstStyle/>
          <a:p>
            <a:pPr>
              <a:spcAft>
                <a:spcPts val="800"/>
              </a:spcAft>
              <a:defRPr sz="1900" b="0">
                <a:solidFill>
                  <a:srgbClr val="F5F8FC"/>
                </a:solidFill>
                <a:latin typeface="Aptos"/>
              </a:defRPr>
            </a:pPr>
            <a:r>
              <a:t>Integration &amp; Governance</a:t>
            </a:r>
          </a:p>
        </p:txBody>
      </p:sp>
      <p:sp>
        <p:nvSpPr>
          <p:cNvPr id="14" name="Rounded Rectangle 13"/>
          <p:cNvSpPr/>
          <p:nvPr/>
        </p:nvSpPr>
        <p:spPr>
          <a:xfrm>
            <a:off x="749808" y="3529584"/>
            <a:ext cx="10652760" cy="5943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630168"/>
            <a:ext cx="731520" cy="274320"/>
          </a:xfrm>
          <a:prstGeom prst="rect">
            <a:avLst/>
          </a:prstGeom>
          <a:noFill/>
        </p:spPr>
        <p:txBody>
          <a:bodyPr wrap="square">
            <a:spAutoFit/>
          </a:bodyPr>
          <a:lstStyle/>
          <a:p>
            <a:pPr>
              <a:spcAft>
                <a:spcPts val="800"/>
              </a:spcAft>
              <a:defRPr sz="1700" b="1">
                <a:solidFill>
                  <a:srgbClr val="30D8BB"/>
                </a:solidFill>
                <a:latin typeface="Aptos"/>
              </a:defRPr>
            </a:pPr>
            <a:r>
              <a:t>03</a:t>
            </a:r>
          </a:p>
        </p:txBody>
      </p:sp>
      <p:sp>
        <p:nvSpPr>
          <p:cNvPr id="16" name="TextBox 15"/>
          <p:cNvSpPr txBox="1"/>
          <p:nvPr/>
        </p:nvSpPr>
        <p:spPr>
          <a:xfrm>
            <a:off x="1856231" y="3621024"/>
            <a:ext cx="8229600" cy="338328"/>
          </a:xfrm>
          <a:prstGeom prst="rect">
            <a:avLst/>
          </a:prstGeom>
          <a:noFill/>
        </p:spPr>
        <p:txBody>
          <a:bodyPr wrap="square">
            <a:spAutoFit/>
          </a:bodyPr>
          <a:lstStyle/>
          <a:p>
            <a:pPr>
              <a:spcAft>
                <a:spcPts val="800"/>
              </a:spcAft>
              <a:defRPr sz="1900" b="0">
                <a:solidFill>
                  <a:srgbClr val="F5F8FC"/>
                </a:solidFill>
                <a:latin typeface="Aptos"/>
              </a:defRPr>
            </a:pPr>
            <a:r>
              <a:t>Tools &amp; Herausforderungen</a:t>
            </a:r>
          </a:p>
        </p:txBody>
      </p:sp>
      <p:sp>
        <p:nvSpPr>
          <p:cNvPr id="17" name="Rounded Rectangle 16"/>
          <p:cNvSpPr/>
          <p:nvPr/>
        </p:nvSpPr>
        <p:spPr>
          <a:xfrm>
            <a:off x="749808" y="4279392"/>
            <a:ext cx="10652760" cy="5943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379976"/>
            <a:ext cx="731520" cy="274320"/>
          </a:xfrm>
          <a:prstGeom prst="rect">
            <a:avLst/>
          </a:prstGeom>
          <a:noFill/>
        </p:spPr>
        <p:txBody>
          <a:bodyPr wrap="square">
            <a:spAutoFit/>
          </a:bodyPr>
          <a:lstStyle/>
          <a:p>
            <a:pPr>
              <a:spcAft>
                <a:spcPts val="800"/>
              </a:spcAft>
              <a:defRPr sz="1700" b="1">
                <a:solidFill>
                  <a:srgbClr val="30D8BB"/>
                </a:solidFill>
                <a:latin typeface="Aptos"/>
              </a:defRPr>
            </a:pPr>
            <a:r>
              <a:t>04</a:t>
            </a:r>
          </a:p>
        </p:txBody>
      </p:sp>
      <p:sp>
        <p:nvSpPr>
          <p:cNvPr id="19" name="TextBox 18"/>
          <p:cNvSpPr txBox="1"/>
          <p:nvPr/>
        </p:nvSpPr>
        <p:spPr>
          <a:xfrm>
            <a:off x="1856231" y="4370831"/>
            <a:ext cx="8229600" cy="338328"/>
          </a:xfrm>
          <a:prstGeom prst="rect">
            <a:avLst/>
          </a:prstGeom>
          <a:noFill/>
        </p:spPr>
        <p:txBody>
          <a:bodyPr wrap="square">
            <a:spAutoFit/>
          </a:bodyPr>
          <a:lstStyle/>
          <a:p>
            <a:pPr>
              <a:spcAft>
                <a:spcPts val="800"/>
              </a:spcAft>
              <a:defRPr sz="1900" b="0">
                <a:solidFill>
                  <a:srgbClr val="F5F8FC"/>
                </a:solidFill>
                <a:latin typeface="Aptos"/>
              </a:defRPr>
            </a:pPr>
            <a:r>
              <a:t>Live-Demo</a:t>
            </a:r>
          </a:p>
        </p:txBody>
      </p:sp>
      <p:sp>
        <p:nvSpPr>
          <p:cNvPr id="20" name="Rounded Rectangle 19"/>
          <p:cNvSpPr/>
          <p:nvPr/>
        </p:nvSpPr>
        <p:spPr>
          <a:xfrm>
            <a:off x="749808" y="5029200"/>
            <a:ext cx="10652760" cy="5943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5129784"/>
            <a:ext cx="731520" cy="274320"/>
          </a:xfrm>
          <a:prstGeom prst="rect">
            <a:avLst/>
          </a:prstGeom>
          <a:noFill/>
        </p:spPr>
        <p:txBody>
          <a:bodyPr wrap="square">
            <a:spAutoFit/>
          </a:bodyPr>
          <a:lstStyle/>
          <a:p>
            <a:pPr>
              <a:spcAft>
                <a:spcPts val="800"/>
              </a:spcAft>
              <a:defRPr sz="1700" b="1">
                <a:solidFill>
                  <a:srgbClr val="30D8BB"/>
                </a:solidFill>
                <a:latin typeface="Aptos"/>
              </a:defRPr>
            </a:pPr>
            <a:r>
              <a:t>05</a:t>
            </a:r>
          </a:p>
        </p:txBody>
      </p:sp>
      <p:sp>
        <p:nvSpPr>
          <p:cNvPr id="22" name="TextBox 21"/>
          <p:cNvSpPr txBox="1"/>
          <p:nvPr/>
        </p:nvSpPr>
        <p:spPr>
          <a:xfrm>
            <a:off x="1856231" y="5120640"/>
            <a:ext cx="8229600" cy="338328"/>
          </a:xfrm>
          <a:prstGeom prst="rect">
            <a:avLst/>
          </a:prstGeom>
          <a:noFill/>
        </p:spPr>
        <p:txBody>
          <a:bodyPr wrap="square">
            <a:spAutoFit/>
          </a:bodyPr>
          <a:lstStyle/>
          <a:p>
            <a:pPr>
              <a:spcAft>
                <a:spcPts val="800"/>
              </a:spcAft>
              <a:defRPr sz="1900" b="0">
                <a:solidFill>
                  <a:srgbClr val="F5F8FC"/>
                </a:solidFill>
                <a:latin typeface="Aptos"/>
              </a:defRPr>
            </a:pPr>
            <a:r>
              <a:t>Ergebnisse &amp; Fazit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Ist-Zustand: Wo liegt das Problem?</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Manueller interner IT-Support mit Medienbrüchen</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03  /  11</a:t>
            </a:r>
          </a:p>
        </p:txBody>
      </p:sp>
      <p:sp>
        <p:nvSpPr>
          <p:cNvPr id="8" name="Rounded Rectangle 7"/>
          <p:cNvSpPr/>
          <p:nvPr/>
        </p:nvSpPr>
        <p:spPr>
          <a:xfrm>
            <a:off x="685800" y="2148840"/>
            <a:ext cx="3474720" cy="228600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05256" y="2331720"/>
            <a:ext cx="3063239" cy="393192"/>
          </a:xfrm>
          <a:prstGeom prst="rect">
            <a:avLst/>
          </a:prstGeom>
          <a:noFill/>
        </p:spPr>
        <p:txBody>
          <a:bodyPr wrap="square">
            <a:spAutoFit/>
          </a:bodyPr>
          <a:lstStyle/>
          <a:p>
            <a:pPr>
              <a:spcAft>
                <a:spcPts val="800"/>
              </a:spcAft>
              <a:defRPr sz="1900" b="1">
                <a:solidFill>
                  <a:srgbClr val="30D8BB"/>
                </a:solidFill>
                <a:latin typeface="Aptos"/>
              </a:defRPr>
            </a:pPr>
            <a:r>
              <a:t>3 Std. 20 Min.</a:t>
            </a:r>
          </a:p>
        </p:txBody>
      </p:sp>
      <p:sp>
        <p:nvSpPr>
          <p:cNvPr id="10" name="TextBox 9"/>
          <p:cNvSpPr txBox="1"/>
          <p:nvPr/>
        </p:nvSpPr>
        <p:spPr>
          <a:xfrm>
            <a:off x="905256" y="2843784"/>
            <a:ext cx="3035808" cy="1517904"/>
          </a:xfrm>
          <a:prstGeom prst="rect">
            <a:avLst/>
          </a:prstGeom>
          <a:noFill/>
        </p:spPr>
        <p:txBody>
          <a:bodyPr wrap="square">
            <a:spAutoFit/>
          </a:bodyPr>
          <a:lstStyle/>
          <a:p>
            <a:pPr>
              <a:spcAft>
                <a:spcPts val="800"/>
              </a:spcAft>
              <a:defRPr sz="1600" b="0">
                <a:solidFill>
                  <a:srgbClr val="F5F8FC"/>
                </a:solidFill>
                <a:latin typeface="Aptos"/>
              </a:defRPr>
            </a:pPr>
            <a:r>
              <a:t>Median bis zur ersten Reaktion</a:t>
            </a:r>
          </a:p>
        </p:txBody>
      </p:sp>
      <p:sp>
        <p:nvSpPr>
          <p:cNvPr id="11" name="Rounded Rectangle 10"/>
          <p:cNvSpPr/>
          <p:nvPr/>
        </p:nvSpPr>
        <p:spPr>
          <a:xfrm>
            <a:off x="4352544" y="2148840"/>
            <a:ext cx="3474720" cy="228600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331720"/>
            <a:ext cx="3063239" cy="393192"/>
          </a:xfrm>
          <a:prstGeom prst="rect">
            <a:avLst/>
          </a:prstGeom>
          <a:noFill/>
        </p:spPr>
        <p:txBody>
          <a:bodyPr wrap="square">
            <a:spAutoFit/>
          </a:bodyPr>
          <a:lstStyle/>
          <a:p>
            <a:pPr>
              <a:spcAft>
                <a:spcPts val="800"/>
              </a:spcAft>
              <a:defRPr sz="1900" b="1">
                <a:solidFill>
                  <a:srgbClr val="30D8BB"/>
                </a:solidFill>
                <a:latin typeface="Aptos"/>
              </a:defRPr>
            </a:pPr>
            <a:r>
              <a:t>14 Minuten</a:t>
            </a:r>
          </a:p>
        </p:txBody>
      </p:sp>
      <p:sp>
        <p:nvSpPr>
          <p:cNvPr id="13" name="TextBox 12"/>
          <p:cNvSpPr txBox="1"/>
          <p:nvPr/>
        </p:nvSpPr>
        <p:spPr>
          <a:xfrm>
            <a:off x="4572000" y="2843784"/>
            <a:ext cx="3035808" cy="1517904"/>
          </a:xfrm>
          <a:prstGeom prst="rect">
            <a:avLst/>
          </a:prstGeom>
          <a:noFill/>
        </p:spPr>
        <p:txBody>
          <a:bodyPr wrap="square">
            <a:spAutoFit/>
          </a:bodyPr>
          <a:lstStyle/>
          <a:p>
            <a:pPr>
              <a:spcAft>
                <a:spcPts val="800"/>
              </a:spcAft>
              <a:defRPr sz="1600" b="0">
                <a:solidFill>
                  <a:srgbClr val="F5F8FC"/>
                </a:solidFill>
                <a:latin typeface="Aptos"/>
              </a:defRPr>
            </a:pPr>
            <a:r>
              <a:t>Aktive Bearbeitung pro Ticket</a:t>
            </a:r>
          </a:p>
        </p:txBody>
      </p:sp>
      <p:sp>
        <p:nvSpPr>
          <p:cNvPr id="14" name="Rounded Rectangle 13"/>
          <p:cNvSpPr/>
          <p:nvPr/>
        </p:nvSpPr>
        <p:spPr>
          <a:xfrm>
            <a:off x="8010144" y="2148840"/>
            <a:ext cx="3474720" cy="228600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0" y="2331720"/>
            <a:ext cx="3063239" cy="393192"/>
          </a:xfrm>
          <a:prstGeom prst="rect">
            <a:avLst/>
          </a:prstGeom>
          <a:noFill/>
        </p:spPr>
        <p:txBody>
          <a:bodyPr wrap="square">
            <a:spAutoFit/>
          </a:bodyPr>
          <a:lstStyle/>
          <a:p>
            <a:pPr>
              <a:spcAft>
                <a:spcPts val="800"/>
              </a:spcAft>
              <a:defRPr sz="1900" b="1">
                <a:solidFill>
                  <a:srgbClr val="30D8BB"/>
                </a:solidFill>
                <a:latin typeface="Aptos"/>
              </a:defRPr>
            </a:pPr>
            <a:r>
              <a:t>64 %</a:t>
            </a:r>
          </a:p>
        </p:txBody>
      </p:sp>
      <p:sp>
        <p:nvSpPr>
          <p:cNvPr id="16" name="TextBox 15"/>
          <p:cNvSpPr txBox="1"/>
          <p:nvPr/>
        </p:nvSpPr>
        <p:spPr>
          <a:xfrm>
            <a:off x="8229600" y="2843784"/>
            <a:ext cx="3035808" cy="1517904"/>
          </a:xfrm>
          <a:prstGeom prst="rect">
            <a:avLst/>
          </a:prstGeom>
          <a:noFill/>
        </p:spPr>
        <p:txBody>
          <a:bodyPr wrap="square">
            <a:spAutoFit/>
          </a:bodyPr>
          <a:lstStyle/>
          <a:p>
            <a:pPr>
              <a:spcAft>
                <a:spcPts val="800"/>
              </a:spcAft>
              <a:defRPr sz="1600" b="0">
                <a:solidFill>
                  <a:srgbClr val="F5F8FC"/>
                </a:solidFill>
                <a:latin typeface="Aptos"/>
              </a:defRPr>
            </a:pPr>
            <a:r>
              <a:t>Vollständige Dokumentation</a:t>
            </a:r>
          </a:p>
        </p:txBody>
      </p:sp>
      <p:sp>
        <p:nvSpPr>
          <p:cNvPr id="17" name="TextBox 16"/>
          <p:cNvSpPr txBox="1"/>
          <p:nvPr/>
        </p:nvSpPr>
        <p:spPr>
          <a:xfrm>
            <a:off x="804672" y="4882896"/>
            <a:ext cx="10698480" cy="594360"/>
          </a:xfrm>
          <a:prstGeom prst="rect">
            <a:avLst/>
          </a:prstGeom>
          <a:noFill/>
        </p:spPr>
        <p:txBody>
          <a:bodyPr wrap="square">
            <a:spAutoFit/>
          </a:bodyPr>
          <a:lstStyle/>
          <a:p>
            <a:pPr>
              <a:spcAft>
                <a:spcPts val="800"/>
              </a:spcAft>
              <a:defRPr sz="1900" b="0">
                <a:solidFill>
                  <a:srgbClr val="ACC0D3"/>
                </a:solidFill>
                <a:latin typeface="Aptos"/>
              </a:defRPr>
            </a:pPr>
            <a:r>
              <a:t>Medienbrüche  •  Rückfragen  •  Wartezeiten  •  Fehlzuordnungen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Soll-Zustand: So hilft SmartDesk</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KI unterstützt – der Mensch entscheidet</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04  /  11</a:t>
            </a:r>
          </a:p>
        </p:txBody>
      </p:sp>
      <p:sp>
        <p:nvSpPr>
          <p:cNvPr id="8" name="Rounded Rectangle 7"/>
          <p:cNvSpPr/>
          <p:nvPr/>
        </p:nvSpPr>
        <p:spPr>
          <a:xfrm>
            <a:off x="603504" y="2377440"/>
            <a:ext cx="2157984" cy="201168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596896"/>
            <a:ext cx="914400" cy="365760"/>
          </a:xfrm>
          <a:prstGeom prst="rect">
            <a:avLst/>
          </a:prstGeom>
          <a:noFill/>
        </p:spPr>
        <p:txBody>
          <a:bodyPr wrap="square">
            <a:spAutoFit/>
          </a:bodyPr>
          <a:lstStyle/>
          <a:p>
            <a:pPr>
              <a:spcAft>
                <a:spcPts val="800"/>
              </a:spcAft>
              <a:defRPr sz="1700" b="1">
                <a:solidFill>
                  <a:srgbClr val="30D8BB"/>
                </a:solidFill>
                <a:latin typeface="Aptos"/>
              </a:defRPr>
            </a:pPr>
            <a:r>
              <a:t>01</a:t>
            </a:r>
          </a:p>
        </p:txBody>
      </p:sp>
      <p:sp>
        <p:nvSpPr>
          <p:cNvPr id="10" name="TextBox 9"/>
          <p:cNvSpPr txBox="1"/>
          <p:nvPr/>
        </p:nvSpPr>
        <p:spPr>
          <a:xfrm>
            <a:off x="777240" y="3054096"/>
            <a:ext cx="1865376" cy="484632"/>
          </a:xfrm>
          <a:prstGeom prst="rect">
            <a:avLst/>
          </a:prstGeom>
          <a:noFill/>
        </p:spPr>
        <p:txBody>
          <a:bodyPr wrap="square">
            <a:spAutoFit/>
          </a:bodyPr>
          <a:lstStyle/>
          <a:p>
            <a:pPr>
              <a:spcAft>
                <a:spcPts val="800"/>
              </a:spcAft>
              <a:defRPr sz="1800" b="1">
                <a:solidFill>
                  <a:srgbClr val="F5F8FC"/>
                </a:solidFill>
                <a:latin typeface="Aptos"/>
              </a:defRPr>
            </a:pPr>
            <a:r>
              <a:t>Anfrage</a:t>
            </a:r>
          </a:p>
        </p:txBody>
      </p:sp>
      <p:sp>
        <p:nvSpPr>
          <p:cNvPr id="11" name="TextBox 10"/>
          <p:cNvSpPr txBox="1"/>
          <p:nvPr/>
        </p:nvSpPr>
        <p:spPr>
          <a:xfrm>
            <a:off x="777240" y="3749039"/>
            <a:ext cx="1865376" cy="384048"/>
          </a:xfrm>
          <a:prstGeom prst="rect">
            <a:avLst/>
          </a:prstGeom>
          <a:noFill/>
        </p:spPr>
        <p:txBody>
          <a:bodyPr wrap="square">
            <a:spAutoFit/>
          </a:bodyPr>
          <a:lstStyle/>
          <a:p>
            <a:pPr>
              <a:spcAft>
                <a:spcPts val="800"/>
              </a:spcAft>
              <a:defRPr sz="1300" b="0">
                <a:solidFill>
                  <a:srgbClr val="ACC0D3"/>
                </a:solidFill>
                <a:latin typeface="Aptos"/>
              </a:defRPr>
            </a:pPr>
            <a:r>
              <a:t>Formular</a:t>
            </a:r>
          </a:p>
        </p:txBody>
      </p:sp>
      <p:sp>
        <p:nvSpPr>
          <p:cNvPr id="12" name="Rounded Rectangle 11"/>
          <p:cNvSpPr/>
          <p:nvPr/>
        </p:nvSpPr>
        <p:spPr>
          <a:xfrm>
            <a:off x="2926080" y="2377440"/>
            <a:ext cx="2157984" cy="201168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99816" y="2596896"/>
            <a:ext cx="914400" cy="365760"/>
          </a:xfrm>
          <a:prstGeom prst="rect">
            <a:avLst/>
          </a:prstGeom>
          <a:noFill/>
        </p:spPr>
        <p:txBody>
          <a:bodyPr wrap="square">
            <a:spAutoFit/>
          </a:bodyPr>
          <a:lstStyle/>
          <a:p>
            <a:pPr>
              <a:spcAft>
                <a:spcPts val="800"/>
              </a:spcAft>
              <a:defRPr sz="1700" b="1">
                <a:solidFill>
                  <a:srgbClr val="30D8BB"/>
                </a:solidFill>
                <a:latin typeface="Aptos"/>
              </a:defRPr>
            </a:pPr>
            <a:r>
              <a:t>02</a:t>
            </a:r>
          </a:p>
        </p:txBody>
      </p:sp>
      <p:sp>
        <p:nvSpPr>
          <p:cNvPr id="14" name="TextBox 13"/>
          <p:cNvSpPr txBox="1"/>
          <p:nvPr/>
        </p:nvSpPr>
        <p:spPr>
          <a:xfrm>
            <a:off x="3099816" y="3054096"/>
            <a:ext cx="1865376" cy="484632"/>
          </a:xfrm>
          <a:prstGeom prst="rect">
            <a:avLst/>
          </a:prstGeom>
          <a:noFill/>
        </p:spPr>
        <p:txBody>
          <a:bodyPr wrap="square">
            <a:spAutoFit/>
          </a:bodyPr>
          <a:lstStyle/>
          <a:p>
            <a:pPr>
              <a:spcAft>
                <a:spcPts val="800"/>
              </a:spcAft>
              <a:defRPr sz="1800" b="1">
                <a:solidFill>
                  <a:srgbClr val="F5F8FC"/>
                </a:solidFill>
                <a:latin typeface="Aptos"/>
              </a:defRPr>
            </a:pPr>
            <a:r>
              <a:t>Wissenssuche</a:t>
            </a:r>
          </a:p>
        </p:txBody>
      </p:sp>
      <p:sp>
        <p:nvSpPr>
          <p:cNvPr id="15" name="TextBox 14"/>
          <p:cNvSpPr txBox="1"/>
          <p:nvPr/>
        </p:nvSpPr>
        <p:spPr>
          <a:xfrm>
            <a:off x="3099816" y="3749039"/>
            <a:ext cx="1865376" cy="384048"/>
          </a:xfrm>
          <a:prstGeom prst="rect">
            <a:avLst/>
          </a:prstGeom>
          <a:noFill/>
        </p:spPr>
        <p:txBody>
          <a:bodyPr wrap="square">
            <a:spAutoFit/>
          </a:bodyPr>
          <a:lstStyle/>
          <a:p>
            <a:pPr>
              <a:spcAft>
                <a:spcPts val="800"/>
              </a:spcAft>
              <a:defRPr sz="1300" b="0">
                <a:solidFill>
                  <a:srgbClr val="ACC0D3"/>
                </a:solidFill>
                <a:latin typeface="Aptos"/>
              </a:defRPr>
            </a:pPr>
            <a:r>
              <a:t>Notion</a:t>
            </a:r>
          </a:p>
        </p:txBody>
      </p:sp>
      <p:sp>
        <p:nvSpPr>
          <p:cNvPr id="16" name="Rounded Rectangle 15"/>
          <p:cNvSpPr/>
          <p:nvPr/>
        </p:nvSpPr>
        <p:spPr>
          <a:xfrm>
            <a:off x="5248656" y="2377440"/>
            <a:ext cx="2157984" cy="201168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22392" y="2596896"/>
            <a:ext cx="914400" cy="365760"/>
          </a:xfrm>
          <a:prstGeom prst="rect">
            <a:avLst/>
          </a:prstGeom>
          <a:noFill/>
        </p:spPr>
        <p:txBody>
          <a:bodyPr wrap="square">
            <a:spAutoFit/>
          </a:bodyPr>
          <a:lstStyle/>
          <a:p>
            <a:pPr>
              <a:spcAft>
                <a:spcPts val="800"/>
              </a:spcAft>
              <a:defRPr sz="1700" b="1">
                <a:solidFill>
                  <a:srgbClr val="30D8BB"/>
                </a:solidFill>
                <a:latin typeface="Aptos"/>
              </a:defRPr>
            </a:pPr>
            <a:r>
              <a:t>03</a:t>
            </a:r>
          </a:p>
        </p:txBody>
      </p:sp>
      <p:sp>
        <p:nvSpPr>
          <p:cNvPr id="18" name="TextBox 17"/>
          <p:cNvSpPr txBox="1"/>
          <p:nvPr/>
        </p:nvSpPr>
        <p:spPr>
          <a:xfrm>
            <a:off x="5422392" y="3054096"/>
            <a:ext cx="1865376" cy="484632"/>
          </a:xfrm>
          <a:prstGeom prst="rect">
            <a:avLst/>
          </a:prstGeom>
          <a:noFill/>
        </p:spPr>
        <p:txBody>
          <a:bodyPr wrap="square">
            <a:spAutoFit/>
          </a:bodyPr>
          <a:lstStyle/>
          <a:p>
            <a:pPr>
              <a:spcAft>
                <a:spcPts val="800"/>
              </a:spcAft>
              <a:defRPr sz="1800" b="1">
                <a:solidFill>
                  <a:srgbClr val="F5F8FC"/>
                </a:solidFill>
                <a:latin typeface="Aptos"/>
              </a:defRPr>
            </a:pPr>
            <a:r>
              <a:t>KI-Vorschlag</a:t>
            </a:r>
          </a:p>
        </p:txBody>
      </p:sp>
      <p:sp>
        <p:nvSpPr>
          <p:cNvPr id="19" name="TextBox 18"/>
          <p:cNvSpPr txBox="1"/>
          <p:nvPr/>
        </p:nvSpPr>
        <p:spPr>
          <a:xfrm>
            <a:off x="5422392" y="3749039"/>
            <a:ext cx="1865376" cy="384048"/>
          </a:xfrm>
          <a:prstGeom prst="rect">
            <a:avLst/>
          </a:prstGeom>
          <a:noFill/>
        </p:spPr>
        <p:txBody>
          <a:bodyPr wrap="square">
            <a:spAutoFit/>
          </a:bodyPr>
          <a:lstStyle/>
          <a:p>
            <a:pPr>
              <a:spcAft>
                <a:spcPts val="800"/>
              </a:spcAft>
              <a:defRPr sz="1300" b="0">
                <a:solidFill>
                  <a:srgbClr val="ACC0D3"/>
                </a:solidFill>
                <a:latin typeface="Aptos"/>
              </a:defRPr>
            </a:pPr>
            <a:r>
              <a:t>nur bei Treffer</a:t>
            </a:r>
          </a:p>
        </p:txBody>
      </p:sp>
      <p:sp>
        <p:nvSpPr>
          <p:cNvPr id="20" name="Rounded Rectangle 19"/>
          <p:cNvSpPr/>
          <p:nvPr/>
        </p:nvSpPr>
        <p:spPr>
          <a:xfrm>
            <a:off x="7571231" y="2377440"/>
            <a:ext cx="2157984" cy="201168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744967" y="2596896"/>
            <a:ext cx="914400" cy="365760"/>
          </a:xfrm>
          <a:prstGeom prst="rect">
            <a:avLst/>
          </a:prstGeom>
          <a:noFill/>
        </p:spPr>
        <p:txBody>
          <a:bodyPr wrap="square">
            <a:spAutoFit/>
          </a:bodyPr>
          <a:lstStyle/>
          <a:p>
            <a:pPr>
              <a:spcAft>
                <a:spcPts val="800"/>
              </a:spcAft>
              <a:defRPr sz="1700" b="1">
                <a:solidFill>
                  <a:srgbClr val="30D8BB"/>
                </a:solidFill>
                <a:latin typeface="Aptos"/>
              </a:defRPr>
            </a:pPr>
            <a:r>
              <a:t>04</a:t>
            </a:r>
          </a:p>
        </p:txBody>
      </p:sp>
      <p:sp>
        <p:nvSpPr>
          <p:cNvPr id="22" name="TextBox 21"/>
          <p:cNvSpPr txBox="1"/>
          <p:nvPr/>
        </p:nvSpPr>
        <p:spPr>
          <a:xfrm>
            <a:off x="7744967" y="3054096"/>
            <a:ext cx="1865376" cy="484632"/>
          </a:xfrm>
          <a:prstGeom prst="rect">
            <a:avLst/>
          </a:prstGeom>
          <a:noFill/>
        </p:spPr>
        <p:txBody>
          <a:bodyPr wrap="square">
            <a:spAutoFit/>
          </a:bodyPr>
          <a:lstStyle/>
          <a:p>
            <a:pPr>
              <a:spcAft>
                <a:spcPts val="800"/>
              </a:spcAft>
              <a:defRPr sz="1800" b="1">
                <a:solidFill>
                  <a:srgbClr val="F5F8FC"/>
                </a:solidFill>
                <a:latin typeface="Aptos"/>
              </a:defRPr>
            </a:pPr>
            <a:r>
              <a:t>Freigabe</a:t>
            </a:r>
          </a:p>
        </p:txBody>
      </p:sp>
      <p:sp>
        <p:nvSpPr>
          <p:cNvPr id="23" name="TextBox 22"/>
          <p:cNvSpPr txBox="1"/>
          <p:nvPr/>
        </p:nvSpPr>
        <p:spPr>
          <a:xfrm>
            <a:off x="7744967" y="3749039"/>
            <a:ext cx="1865376" cy="384048"/>
          </a:xfrm>
          <a:prstGeom prst="rect">
            <a:avLst/>
          </a:prstGeom>
          <a:noFill/>
        </p:spPr>
        <p:txBody>
          <a:bodyPr wrap="square">
            <a:spAutoFit/>
          </a:bodyPr>
          <a:lstStyle/>
          <a:p>
            <a:pPr>
              <a:spcAft>
                <a:spcPts val="800"/>
              </a:spcAft>
              <a:defRPr sz="1300" b="0">
                <a:solidFill>
                  <a:srgbClr val="ACC0D3"/>
                </a:solidFill>
                <a:latin typeface="Aptos"/>
              </a:defRPr>
            </a:pPr>
            <a:r>
              <a:t>Mensch</a:t>
            </a:r>
          </a:p>
        </p:txBody>
      </p:sp>
      <p:sp>
        <p:nvSpPr>
          <p:cNvPr id="24" name="Rounded Rectangle 23"/>
          <p:cNvSpPr/>
          <p:nvPr/>
        </p:nvSpPr>
        <p:spPr>
          <a:xfrm>
            <a:off x="9893808" y="2377440"/>
            <a:ext cx="2157984" cy="201168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67544" y="2596896"/>
            <a:ext cx="914400" cy="365760"/>
          </a:xfrm>
          <a:prstGeom prst="rect">
            <a:avLst/>
          </a:prstGeom>
          <a:noFill/>
        </p:spPr>
        <p:txBody>
          <a:bodyPr wrap="square">
            <a:spAutoFit/>
          </a:bodyPr>
          <a:lstStyle/>
          <a:p>
            <a:pPr>
              <a:spcAft>
                <a:spcPts val="800"/>
              </a:spcAft>
              <a:defRPr sz="1700" b="1">
                <a:solidFill>
                  <a:srgbClr val="30D8BB"/>
                </a:solidFill>
                <a:latin typeface="Aptos"/>
              </a:defRPr>
            </a:pPr>
            <a:r>
              <a:t>05</a:t>
            </a:r>
          </a:p>
        </p:txBody>
      </p:sp>
      <p:sp>
        <p:nvSpPr>
          <p:cNvPr id="26" name="TextBox 25"/>
          <p:cNvSpPr txBox="1"/>
          <p:nvPr/>
        </p:nvSpPr>
        <p:spPr>
          <a:xfrm>
            <a:off x="10067544" y="3054096"/>
            <a:ext cx="1865376" cy="484632"/>
          </a:xfrm>
          <a:prstGeom prst="rect">
            <a:avLst/>
          </a:prstGeom>
          <a:noFill/>
        </p:spPr>
        <p:txBody>
          <a:bodyPr wrap="square">
            <a:spAutoFit/>
          </a:bodyPr>
          <a:lstStyle/>
          <a:p>
            <a:pPr>
              <a:spcAft>
                <a:spcPts val="800"/>
              </a:spcAft>
              <a:defRPr sz="1800" b="1">
                <a:solidFill>
                  <a:srgbClr val="F5F8FC"/>
                </a:solidFill>
                <a:latin typeface="Aptos"/>
              </a:defRPr>
            </a:pPr>
            <a:r>
              <a:t>Antwort / Eskalation</a:t>
            </a:r>
          </a:p>
        </p:txBody>
      </p:sp>
      <p:sp>
        <p:nvSpPr>
          <p:cNvPr id="27" name="TextBox 26"/>
          <p:cNvSpPr txBox="1"/>
          <p:nvPr/>
        </p:nvSpPr>
        <p:spPr>
          <a:xfrm>
            <a:off x="10067544" y="3749039"/>
            <a:ext cx="1865376" cy="384048"/>
          </a:xfrm>
          <a:prstGeom prst="rect">
            <a:avLst/>
          </a:prstGeom>
          <a:noFill/>
        </p:spPr>
        <p:txBody>
          <a:bodyPr wrap="square">
            <a:spAutoFit/>
          </a:bodyPr>
          <a:lstStyle/>
          <a:p>
            <a:pPr>
              <a:spcAft>
                <a:spcPts val="800"/>
              </a:spcAft>
              <a:defRPr sz="1300" b="0">
                <a:solidFill>
                  <a:srgbClr val="ACC0D3"/>
                </a:solidFill>
                <a:latin typeface="Aptos"/>
              </a:defRPr>
            </a:pPr>
            <a:r>
              <a:t>Support</a:t>
            </a:r>
          </a:p>
        </p:txBody>
      </p:sp>
      <p:sp>
        <p:nvSpPr>
          <p:cNvPr id="28" name="TextBox 27"/>
          <p:cNvSpPr txBox="1"/>
          <p:nvPr/>
        </p:nvSpPr>
        <p:spPr>
          <a:xfrm>
            <a:off x="749808" y="4992624"/>
            <a:ext cx="10607040" cy="566928"/>
          </a:xfrm>
          <a:prstGeom prst="rect">
            <a:avLst/>
          </a:prstGeom>
          <a:noFill/>
        </p:spPr>
        <p:txBody>
          <a:bodyPr wrap="square">
            <a:spAutoFit/>
          </a:bodyPr>
          <a:lstStyle/>
          <a:p>
            <a:pPr>
              <a:spcAft>
                <a:spcPts val="800"/>
              </a:spcAft>
              <a:defRPr sz="2200" b="1">
                <a:solidFill>
                  <a:srgbClr val="FFB454"/>
                </a:solidFill>
                <a:latin typeface="Aptos"/>
              </a:defRPr>
            </a:pPr>
            <a:r>
              <a:t>Leitprinzip: Keine ungeprüfte KI-Antwort wird versendet.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Integration ins Unternehmen</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Vom Prototyp zum kontrollierten Regelbetrieb</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05  /  11</a:t>
            </a:r>
          </a:p>
        </p:txBody>
      </p:sp>
      <p:sp>
        <p:nvSpPr>
          <p:cNvPr id="8" name="Rounded Rectangle 7"/>
          <p:cNvSpPr/>
          <p:nvPr/>
        </p:nvSpPr>
        <p:spPr>
          <a:xfrm>
            <a:off x="713232" y="2075688"/>
            <a:ext cx="3401568" cy="24231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258568"/>
            <a:ext cx="2990088" cy="393192"/>
          </a:xfrm>
          <a:prstGeom prst="rect">
            <a:avLst/>
          </a:prstGeom>
          <a:noFill/>
        </p:spPr>
        <p:txBody>
          <a:bodyPr wrap="square">
            <a:spAutoFit/>
          </a:bodyPr>
          <a:lstStyle/>
          <a:p>
            <a:pPr>
              <a:spcAft>
                <a:spcPts val="800"/>
              </a:spcAft>
              <a:defRPr sz="1900" b="1">
                <a:solidFill>
                  <a:srgbClr val="30D8BB"/>
                </a:solidFill>
                <a:latin typeface="Aptos"/>
              </a:defRPr>
            </a:pPr>
            <a:r>
              <a:t>1  Vorbereiten</a:t>
            </a:r>
          </a:p>
        </p:txBody>
      </p:sp>
      <p:sp>
        <p:nvSpPr>
          <p:cNvPr id="10" name="TextBox 9"/>
          <p:cNvSpPr txBox="1"/>
          <p:nvPr/>
        </p:nvSpPr>
        <p:spPr>
          <a:xfrm>
            <a:off x="932688" y="2770632"/>
            <a:ext cx="2962656" cy="1655064"/>
          </a:xfrm>
          <a:prstGeom prst="rect">
            <a:avLst/>
          </a:prstGeom>
          <a:noFill/>
        </p:spPr>
        <p:txBody>
          <a:bodyPr wrap="square">
            <a:spAutoFit/>
          </a:bodyPr>
          <a:lstStyle/>
          <a:p>
            <a:pPr>
              <a:spcAft>
                <a:spcPts val="800"/>
              </a:spcAft>
              <a:defRPr sz="1600" b="0">
                <a:solidFill>
                  <a:srgbClr val="F5F8FC"/>
                </a:solidFill>
                <a:latin typeface="Aptos"/>
              </a:defRPr>
            </a:pPr>
            <a:r>
              <a:t>Ist-Prozess, Ziele, Stakeholder, Datenschutz und Risikobewertung</a:t>
            </a:r>
          </a:p>
        </p:txBody>
      </p:sp>
      <p:sp>
        <p:nvSpPr>
          <p:cNvPr id="11" name="Rounded Rectangle 10"/>
          <p:cNvSpPr/>
          <p:nvPr/>
        </p:nvSpPr>
        <p:spPr>
          <a:xfrm>
            <a:off x="4389120" y="2075688"/>
            <a:ext cx="3401568" cy="24231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08576" y="2258568"/>
            <a:ext cx="2990088" cy="393192"/>
          </a:xfrm>
          <a:prstGeom prst="rect">
            <a:avLst/>
          </a:prstGeom>
          <a:noFill/>
        </p:spPr>
        <p:txBody>
          <a:bodyPr wrap="square">
            <a:spAutoFit/>
          </a:bodyPr>
          <a:lstStyle/>
          <a:p>
            <a:pPr>
              <a:spcAft>
                <a:spcPts val="800"/>
              </a:spcAft>
              <a:defRPr sz="1900" b="1">
                <a:solidFill>
                  <a:srgbClr val="30D8BB"/>
                </a:solidFill>
                <a:latin typeface="Aptos"/>
              </a:defRPr>
            </a:pPr>
            <a:r>
              <a:t>2  Erproben</a:t>
            </a:r>
          </a:p>
        </p:txBody>
      </p:sp>
      <p:sp>
        <p:nvSpPr>
          <p:cNvPr id="13" name="TextBox 12"/>
          <p:cNvSpPr txBox="1"/>
          <p:nvPr/>
        </p:nvSpPr>
        <p:spPr>
          <a:xfrm>
            <a:off x="4608576" y="2770632"/>
            <a:ext cx="2962656" cy="1655064"/>
          </a:xfrm>
          <a:prstGeom prst="rect">
            <a:avLst/>
          </a:prstGeom>
          <a:noFill/>
        </p:spPr>
        <p:txBody>
          <a:bodyPr wrap="square">
            <a:spAutoFit/>
          </a:bodyPr>
          <a:lstStyle/>
          <a:p>
            <a:pPr>
              <a:spcAft>
                <a:spcPts val="800"/>
              </a:spcAft>
              <a:defRPr sz="1600" b="0">
                <a:solidFill>
                  <a:srgbClr val="F5F8FC"/>
                </a:solidFill>
                <a:latin typeface="Aptos"/>
              </a:defRPr>
            </a:pPr>
            <a:r>
              <a:t>Wissensbasis, n8n-Prototyp, Testfälle und menschliche Freigabe</a:t>
            </a:r>
          </a:p>
        </p:txBody>
      </p:sp>
      <p:sp>
        <p:nvSpPr>
          <p:cNvPr id="14" name="Rounded Rectangle 13"/>
          <p:cNvSpPr/>
          <p:nvPr/>
        </p:nvSpPr>
        <p:spPr>
          <a:xfrm>
            <a:off x="8065008" y="2075688"/>
            <a:ext cx="3401568" cy="24231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4" y="2258568"/>
            <a:ext cx="2990088" cy="393192"/>
          </a:xfrm>
          <a:prstGeom prst="rect">
            <a:avLst/>
          </a:prstGeom>
          <a:noFill/>
        </p:spPr>
        <p:txBody>
          <a:bodyPr wrap="square">
            <a:spAutoFit/>
          </a:bodyPr>
          <a:lstStyle/>
          <a:p>
            <a:pPr>
              <a:spcAft>
                <a:spcPts val="800"/>
              </a:spcAft>
              <a:defRPr sz="1900" b="1">
                <a:solidFill>
                  <a:srgbClr val="30D8BB"/>
                </a:solidFill>
                <a:latin typeface="Aptos"/>
              </a:defRPr>
            </a:pPr>
            <a:r>
              <a:t>3  Absichern</a:t>
            </a:r>
          </a:p>
        </p:txBody>
      </p:sp>
      <p:sp>
        <p:nvSpPr>
          <p:cNvPr id="16" name="TextBox 15"/>
          <p:cNvSpPr txBox="1"/>
          <p:nvPr/>
        </p:nvSpPr>
        <p:spPr>
          <a:xfrm>
            <a:off x="8284464" y="2770632"/>
            <a:ext cx="2962656" cy="1655064"/>
          </a:xfrm>
          <a:prstGeom prst="rect">
            <a:avLst/>
          </a:prstGeom>
          <a:noFill/>
        </p:spPr>
        <p:txBody>
          <a:bodyPr wrap="square">
            <a:spAutoFit/>
          </a:bodyPr>
          <a:lstStyle/>
          <a:p>
            <a:pPr>
              <a:spcAft>
                <a:spcPts val="800"/>
              </a:spcAft>
              <a:defRPr sz="1600" b="0">
                <a:solidFill>
                  <a:srgbClr val="F5F8FC"/>
                </a:solidFill>
                <a:latin typeface="Aptos"/>
              </a:defRPr>
            </a:pPr>
            <a:r>
              <a:t>KPIs, Schulungen, PDCA, Zuständigkeiten und Change-Gate</a:t>
            </a:r>
          </a:p>
        </p:txBody>
      </p:sp>
      <p:sp>
        <p:nvSpPr>
          <p:cNvPr id="17" name="TextBox 16"/>
          <p:cNvSpPr txBox="1"/>
          <p:nvPr/>
        </p:nvSpPr>
        <p:spPr>
          <a:xfrm>
            <a:off x="768096" y="5047488"/>
            <a:ext cx="10698480" cy="502920"/>
          </a:xfrm>
          <a:prstGeom prst="rect">
            <a:avLst/>
          </a:prstGeom>
          <a:noFill/>
        </p:spPr>
        <p:txBody>
          <a:bodyPr wrap="square">
            <a:spAutoFit/>
          </a:bodyPr>
          <a:lstStyle/>
          <a:p>
            <a:pPr>
              <a:spcAft>
                <a:spcPts val="800"/>
              </a:spcAft>
              <a:defRPr sz="1900" b="1">
                <a:solidFill>
                  <a:srgbClr val="FFB454"/>
                </a:solidFill>
                <a:latin typeface="Aptos"/>
              </a:defRPr>
            </a:pPr>
            <a:r>
              <a:t>Einführung nur schrittweise und nach dokumentierter Freigabe.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KI-Governance &amp; Compliance</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Kontrolle ist Teil des Prozesses – nicht nachträglich</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06  /  11</a:t>
            </a:r>
          </a:p>
        </p:txBody>
      </p:sp>
      <p:sp>
        <p:nvSpPr>
          <p:cNvPr id="8" name="Rounded Rectangle 7"/>
          <p:cNvSpPr/>
          <p:nvPr/>
        </p:nvSpPr>
        <p:spPr>
          <a:xfrm>
            <a:off x="713232" y="2148840"/>
            <a:ext cx="5230368" cy="15087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331720"/>
            <a:ext cx="4818888" cy="393192"/>
          </a:xfrm>
          <a:prstGeom prst="rect">
            <a:avLst/>
          </a:prstGeom>
          <a:noFill/>
        </p:spPr>
        <p:txBody>
          <a:bodyPr wrap="square">
            <a:spAutoFit/>
          </a:bodyPr>
          <a:lstStyle/>
          <a:p>
            <a:pPr>
              <a:spcAft>
                <a:spcPts val="800"/>
              </a:spcAft>
              <a:defRPr sz="1900" b="1">
                <a:solidFill>
                  <a:srgbClr val="30D8BB"/>
                </a:solidFill>
                <a:latin typeface="Aptos"/>
              </a:defRPr>
            </a:pPr>
            <a:r>
              <a:t>Human-in-the-Loop</a:t>
            </a:r>
          </a:p>
        </p:txBody>
      </p:sp>
      <p:sp>
        <p:nvSpPr>
          <p:cNvPr id="10" name="TextBox 9"/>
          <p:cNvSpPr txBox="1"/>
          <p:nvPr/>
        </p:nvSpPr>
        <p:spPr>
          <a:xfrm>
            <a:off x="932688" y="2843784"/>
            <a:ext cx="4791456" cy="740664"/>
          </a:xfrm>
          <a:prstGeom prst="rect">
            <a:avLst/>
          </a:prstGeom>
          <a:noFill/>
        </p:spPr>
        <p:txBody>
          <a:bodyPr wrap="square">
            <a:spAutoFit/>
          </a:bodyPr>
          <a:lstStyle/>
          <a:p>
            <a:pPr>
              <a:spcAft>
                <a:spcPts val="800"/>
              </a:spcAft>
              <a:defRPr sz="1600" b="0">
                <a:solidFill>
                  <a:srgbClr val="F5F8FC"/>
                </a:solidFill>
                <a:latin typeface="Aptos"/>
              </a:defRPr>
            </a:pPr>
            <a:r>
              <a:t>Jeder KI-Vorschlag wird vor Ausgabe geprüft.</a:t>
            </a:r>
          </a:p>
        </p:txBody>
      </p:sp>
      <p:sp>
        <p:nvSpPr>
          <p:cNvPr id="11" name="Rounded Rectangle 10"/>
          <p:cNvSpPr/>
          <p:nvPr/>
        </p:nvSpPr>
        <p:spPr>
          <a:xfrm>
            <a:off x="6190488" y="2148840"/>
            <a:ext cx="5230368" cy="15087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9944" y="2331720"/>
            <a:ext cx="4818888" cy="393192"/>
          </a:xfrm>
          <a:prstGeom prst="rect">
            <a:avLst/>
          </a:prstGeom>
          <a:noFill/>
        </p:spPr>
        <p:txBody>
          <a:bodyPr wrap="square">
            <a:spAutoFit/>
          </a:bodyPr>
          <a:lstStyle/>
          <a:p>
            <a:pPr>
              <a:spcAft>
                <a:spcPts val="800"/>
              </a:spcAft>
              <a:defRPr sz="1900" b="1">
                <a:solidFill>
                  <a:srgbClr val="FFB454"/>
                </a:solidFill>
                <a:latin typeface="Aptos"/>
              </a:defRPr>
            </a:pPr>
            <a:r>
              <a:t>Datenschutz &amp; Schutzgrenzen</a:t>
            </a:r>
          </a:p>
        </p:txBody>
      </p:sp>
      <p:sp>
        <p:nvSpPr>
          <p:cNvPr id="13" name="TextBox 12"/>
          <p:cNvSpPr txBox="1"/>
          <p:nvPr/>
        </p:nvSpPr>
        <p:spPr>
          <a:xfrm>
            <a:off x="6409944" y="2843784"/>
            <a:ext cx="4791456" cy="740664"/>
          </a:xfrm>
          <a:prstGeom prst="rect">
            <a:avLst/>
          </a:prstGeom>
          <a:noFill/>
        </p:spPr>
        <p:txBody>
          <a:bodyPr wrap="square">
            <a:spAutoFit/>
          </a:bodyPr>
          <a:lstStyle/>
          <a:p>
            <a:pPr>
              <a:spcAft>
                <a:spcPts val="800"/>
              </a:spcAft>
              <a:defRPr sz="1600" b="0">
                <a:solidFill>
                  <a:srgbClr val="F5F8FC"/>
                </a:solidFill>
                <a:latin typeface="Aptos"/>
              </a:defRPr>
            </a:pPr>
            <a:r>
              <a:t>Sensible Anfragen nicht ans Modell weitergeben.</a:t>
            </a:r>
          </a:p>
        </p:txBody>
      </p:sp>
      <p:sp>
        <p:nvSpPr>
          <p:cNvPr id="14" name="Rounded Rectangle 13"/>
          <p:cNvSpPr/>
          <p:nvPr/>
        </p:nvSpPr>
        <p:spPr>
          <a:xfrm>
            <a:off x="713232" y="3840480"/>
            <a:ext cx="5230368" cy="15087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4023360"/>
            <a:ext cx="4818888" cy="393192"/>
          </a:xfrm>
          <a:prstGeom prst="rect">
            <a:avLst/>
          </a:prstGeom>
          <a:noFill/>
        </p:spPr>
        <p:txBody>
          <a:bodyPr wrap="square">
            <a:spAutoFit/>
          </a:bodyPr>
          <a:lstStyle/>
          <a:p>
            <a:pPr>
              <a:spcAft>
                <a:spcPts val="800"/>
              </a:spcAft>
              <a:defRPr sz="1900" b="1">
                <a:solidFill>
                  <a:srgbClr val="30D8BB"/>
                </a:solidFill>
                <a:latin typeface="Aptos"/>
              </a:defRPr>
            </a:pPr>
            <a:r>
              <a:t>Freigegebene Wissensbasis</a:t>
            </a:r>
          </a:p>
        </p:txBody>
      </p:sp>
      <p:sp>
        <p:nvSpPr>
          <p:cNvPr id="16" name="TextBox 15"/>
          <p:cNvSpPr txBox="1"/>
          <p:nvPr/>
        </p:nvSpPr>
        <p:spPr>
          <a:xfrm>
            <a:off x="932688" y="4535424"/>
            <a:ext cx="4791456" cy="740664"/>
          </a:xfrm>
          <a:prstGeom prst="rect">
            <a:avLst/>
          </a:prstGeom>
          <a:noFill/>
        </p:spPr>
        <p:txBody>
          <a:bodyPr wrap="square">
            <a:spAutoFit/>
          </a:bodyPr>
          <a:lstStyle/>
          <a:p>
            <a:pPr>
              <a:spcAft>
                <a:spcPts val="800"/>
              </a:spcAft>
              <a:defRPr sz="1600" b="0">
                <a:solidFill>
                  <a:srgbClr val="F5F8FC"/>
                </a:solidFill>
                <a:latin typeface="Aptos"/>
              </a:defRPr>
            </a:pPr>
            <a:r>
              <a:t>Nur geprüfte Notion-Lösungen als Grundlage.</a:t>
            </a:r>
          </a:p>
        </p:txBody>
      </p:sp>
      <p:sp>
        <p:nvSpPr>
          <p:cNvPr id="17" name="Rounded Rectangle 16"/>
          <p:cNvSpPr/>
          <p:nvPr/>
        </p:nvSpPr>
        <p:spPr>
          <a:xfrm>
            <a:off x="6190488" y="3840480"/>
            <a:ext cx="5230368" cy="150876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4023360"/>
            <a:ext cx="4818888" cy="393192"/>
          </a:xfrm>
          <a:prstGeom prst="rect">
            <a:avLst/>
          </a:prstGeom>
          <a:noFill/>
        </p:spPr>
        <p:txBody>
          <a:bodyPr wrap="square">
            <a:spAutoFit/>
          </a:bodyPr>
          <a:lstStyle/>
          <a:p>
            <a:pPr>
              <a:spcAft>
                <a:spcPts val="800"/>
              </a:spcAft>
              <a:defRPr sz="1900" b="1">
                <a:solidFill>
                  <a:srgbClr val="FFB454"/>
                </a:solidFill>
                <a:latin typeface="Aptos"/>
              </a:defRPr>
            </a:pPr>
            <a:r>
              <a:t>Betrieb &amp; Nachweis</a:t>
            </a:r>
          </a:p>
        </p:txBody>
      </p:sp>
      <p:sp>
        <p:nvSpPr>
          <p:cNvPr id="19" name="TextBox 18"/>
          <p:cNvSpPr txBox="1"/>
          <p:nvPr/>
        </p:nvSpPr>
        <p:spPr>
          <a:xfrm>
            <a:off x="6409944" y="4535424"/>
            <a:ext cx="4791456" cy="740664"/>
          </a:xfrm>
          <a:prstGeom prst="rect">
            <a:avLst/>
          </a:prstGeom>
          <a:noFill/>
        </p:spPr>
        <p:txBody>
          <a:bodyPr wrap="square">
            <a:spAutoFit/>
          </a:bodyPr>
          <a:lstStyle/>
          <a:p>
            <a:pPr>
              <a:spcAft>
                <a:spcPts val="800"/>
              </a:spcAft>
              <a:defRPr sz="1600" b="0">
                <a:solidFill>
                  <a:srgbClr val="F5F8FC"/>
                </a:solidFill>
                <a:latin typeface="Aptos"/>
              </a:defRPr>
            </a:pPr>
            <a:r>
              <a:t>Logging, Rollen, Fehlerpfad und Stoppkriterien.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Verwendete Tools</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Ein einfacher, nachvollziehbarer Technik-Stack</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07  /  11</a:t>
            </a:r>
          </a:p>
        </p:txBody>
      </p:sp>
      <p:sp>
        <p:nvSpPr>
          <p:cNvPr id="8" name="Rounded Rectangle 7"/>
          <p:cNvSpPr/>
          <p:nvPr/>
        </p:nvSpPr>
        <p:spPr>
          <a:xfrm>
            <a:off x="713232" y="2194560"/>
            <a:ext cx="5212080" cy="144475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377440"/>
            <a:ext cx="4800600" cy="393192"/>
          </a:xfrm>
          <a:prstGeom prst="rect">
            <a:avLst/>
          </a:prstGeom>
          <a:noFill/>
        </p:spPr>
        <p:txBody>
          <a:bodyPr wrap="square">
            <a:spAutoFit/>
          </a:bodyPr>
          <a:lstStyle/>
          <a:p>
            <a:pPr>
              <a:spcAft>
                <a:spcPts val="800"/>
              </a:spcAft>
              <a:defRPr sz="1900" b="1">
                <a:solidFill>
                  <a:srgbClr val="30D8BB"/>
                </a:solidFill>
                <a:latin typeface="Aptos"/>
              </a:defRPr>
            </a:pPr>
            <a:r>
              <a:t>n8n</a:t>
            </a:r>
          </a:p>
        </p:txBody>
      </p:sp>
      <p:sp>
        <p:nvSpPr>
          <p:cNvPr id="10" name="TextBox 9"/>
          <p:cNvSpPr txBox="1"/>
          <p:nvPr/>
        </p:nvSpPr>
        <p:spPr>
          <a:xfrm>
            <a:off x="932688" y="2889504"/>
            <a:ext cx="4773168" cy="676656"/>
          </a:xfrm>
          <a:prstGeom prst="rect">
            <a:avLst/>
          </a:prstGeom>
          <a:noFill/>
        </p:spPr>
        <p:txBody>
          <a:bodyPr wrap="square">
            <a:spAutoFit/>
          </a:bodyPr>
          <a:lstStyle/>
          <a:p>
            <a:pPr>
              <a:spcAft>
                <a:spcPts val="800"/>
              </a:spcAft>
              <a:defRPr sz="1600" b="0">
                <a:solidFill>
                  <a:srgbClr val="F5F8FC"/>
                </a:solidFill>
                <a:latin typeface="Aptos"/>
              </a:defRPr>
            </a:pPr>
            <a:r>
              <a:t>Formular &amp; Workflow</a:t>
            </a:r>
          </a:p>
        </p:txBody>
      </p:sp>
      <p:sp>
        <p:nvSpPr>
          <p:cNvPr id="11" name="Rounded Rectangle 10"/>
          <p:cNvSpPr/>
          <p:nvPr/>
        </p:nvSpPr>
        <p:spPr>
          <a:xfrm>
            <a:off x="6245352" y="2194560"/>
            <a:ext cx="5212080" cy="144475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4808" y="2377440"/>
            <a:ext cx="4800600" cy="393192"/>
          </a:xfrm>
          <a:prstGeom prst="rect">
            <a:avLst/>
          </a:prstGeom>
          <a:noFill/>
        </p:spPr>
        <p:txBody>
          <a:bodyPr wrap="square">
            <a:spAutoFit/>
          </a:bodyPr>
          <a:lstStyle/>
          <a:p>
            <a:pPr>
              <a:spcAft>
                <a:spcPts val="800"/>
              </a:spcAft>
              <a:defRPr sz="1900" b="1">
                <a:solidFill>
                  <a:srgbClr val="30D8BB"/>
                </a:solidFill>
                <a:latin typeface="Aptos"/>
              </a:defRPr>
            </a:pPr>
            <a:r>
              <a:t>Notion</a:t>
            </a:r>
          </a:p>
        </p:txBody>
      </p:sp>
      <p:sp>
        <p:nvSpPr>
          <p:cNvPr id="13" name="TextBox 12"/>
          <p:cNvSpPr txBox="1"/>
          <p:nvPr/>
        </p:nvSpPr>
        <p:spPr>
          <a:xfrm>
            <a:off x="6464808" y="2889504"/>
            <a:ext cx="4773168" cy="676656"/>
          </a:xfrm>
          <a:prstGeom prst="rect">
            <a:avLst/>
          </a:prstGeom>
          <a:noFill/>
        </p:spPr>
        <p:txBody>
          <a:bodyPr wrap="square">
            <a:spAutoFit/>
          </a:bodyPr>
          <a:lstStyle/>
          <a:p>
            <a:pPr>
              <a:spcAft>
                <a:spcPts val="800"/>
              </a:spcAft>
              <a:defRPr sz="1600" b="0">
                <a:solidFill>
                  <a:srgbClr val="F5F8FC"/>
                </a:solidFill>
                <a:latin typeface="Aptos"/>
              </a:defRPr>
            </a:pPr>
            <a:r>
              <a:t>Wissensdatenbank</a:t>
            </a:r>
          </a:p>
        </p:txBody>
      </p:sp>
      <p:sp>
        <p:nvSpPr>
          <p:cNvPr id="14" name="Rounded Rectangle 13"/>
          <p:cNvSpPr/>
          <p:nvPr/>
        </p:nvSpPr>
        <p:spPr>
          <a:xfrm>
            <a:off x="713232" y="3840480"/>
            <a:ext cx="5212080" cy="144475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4023360"/>
            <a:ext cx="4800600" cy="393192"/>
          </a:xfrm>
          <a:prstGeom prst="rect">
            <a:avLst/>
          </a:prstGeom>
          <a:noFill/>
        </p:spPr>
        <p:txBody>
          <a:bodyPr wrap="square">
            <a:spAutoFit/>
          </a:bodyPr>
          <a:lstStyle/>
          <a:p>
            <a:pPr>
              <a:spcAft>
                <a:spcPts val="800"/>
              </a:spcAft>
              <a:defRPr sz="1900" b="1">
                <a:solidFill>
                  <a:srgbClr val="30D8BB"/>
                </a:solidFill>
                <a:latin typeface="Aptos"/>
              </a:defRPr>
            </a:pPr>
            <a:r>
              <a:t>Groq / KI-Modell</a:t>
            </a:r>
          </a:p>
        </p:txBody>
      </p:sp>
      <p:sp>
        <p:nvSpPr>
          <p:cNvPr id="16" name="TextBox 15"/>
          <p:cNvSpPr txBox="1"/>
          <p:nvPr/>
        </p:nvSpPr>
        <p:spPr>
          <a:xfrm>
            <a:off x="932688" y="4535424"/>
            <a:ext cx="4773168" cy="676656"/>
          </a:xfrm>
          <a:prstGeom prst="rect">
            <a:avLst/>
          </a:prstGeom>
          <a:noFill/>
        </p:spPr>
        <p:txBody>
          <a:bodyPr wrap="square">
            <a:spAutoFit/>
          </a:bodyPr>
          <a:lstStyle/>
          <a:p>
            <a:pPr>
              <a:spcAft>
                <a:spcPts val="800"/>
              </a:spcAft>
              <a:defRPr sz="1600" b="0">
                <a:solidFill>
                  <a:srgbClr val="F5F8FC"/>
                </a:solidFill>
                <a:latin typeface="Aptos"/>
              </a:defRPr>
            </a:pPr>
            <a:r>
              <a:t>Antwortvorschlag</a:t>
            </a:r>
          </a:p>
        </p:txBody>
      </p:sp>
      <p:sp>
        <p:nvSpPr>
          <p:cNvPr id="17" name="Rounded Rectangle 16"/>
          <p:cNvSpPr/>
          <p:nvPr/>
        </p:nvSpPr>
        <p:spPr>
          <a:xfrm>
            <a:off x="6245352" y="3840480"/>
            <a:ext cx="5212080" cy="144475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64808" y="4023360"/>
            <a:ext cx="4800600" cy="393192"/>
          </a:xfrm>
          <a:prstGeom prst="rect">
            <a:avLst/>
          </a:prstGeom>
          <a:noFill/>
        </p:spPr>
        <p:txBody>
          <a:bodyPr wrap="square">
            <a:spAutoFit/>
          </a:bodyPr>
          <a:lstStyle/>
          <a:p>
            <a:pPr>
              <a:spcAft>
                <a:spcPts val="800"/>
              </a:spcAft>
              <a:defRPr sz="1900" b="1">
                <a:solidFill>
                  <a:srgbClr val="30D8BB"/>
                </a:solidFill>
                <a:latin typeface="Aptos"/>
              </a:defRPr>
            </a:pPr>
            <a:r>
              <a:t>Gmail</a:t>
            </a:r>
          </a:p>
        </p:txBody>
      </p:sp>
      <p:sp>
        <p:nvSpPr>
          <p:cNvPr id="19" name="TextBox 18"/>
          <p:cNvSpPr txBox="1"/>
          <p:nvPr/>
        </p:nvSpPr>
        <p:spPr>
          <a:xfrm>
            <a:off x="6464808" y="4535424"/>
            <a:ext cx="4773168" cy="676656"/>
          </a:xfrm>
          <a:prstGeom prst="rect">
            <a:avLst/>
          </a:prstGeom>
          <a:noFill/>
        </p:spPr>
        <p:txBody>
          <a:bodyPr wrap="square">
            <a:spAutoFit/>
          </a:bodyPr>
          <a:lstStyle/>
          <a:p>
            <a:pPr>
              <a:spcAft>
                <a:spcPts val="800"/>
              </a:spcAft>
              <a:defRPr sz="1600" b="0">
                <a:solidFill>
                  <a:srgbClr val="F5F8FC"/>
                </a:solidFill>
                <a:latin typeface="Aptos"/>
              </a:defRPr>
            </a:pPr>
            <a:r>
              <a:t>First-Level-E-Mail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Herausforderungen &amp; Grenzen</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Was der Prototyp noch nicht zuverlässig kann</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08  /  11</a:t>
            </a:r>
          </a:p>
        </p:txBody>
      </p:sp>
      <p:sp>
        <p:nvSpPr>
          <p:cNvPr id="8" name="Rounded Rectangle 7"/>
          <p:cNvSpPr/>
          <p:nvPr/>
        </p:nvSpPr>
        <p:spPr>
          <a:xfrm>
            <a:off x="694944" y="2148840"/>
            <a:ext cx="5248656" cy="153619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31720"/>
            <a:ext cx="4837176" cy="393192"/>
          </a:xfrm>
          <a:prstGeom prst="rect">
            <a:avLst/>
          </a:prstGeom>
          <a:noFill/>
        </p:spPr>
        <p:txBody>
          <a:bodyPr wrap="square">
            <a:spAutoFit/>
          </a:bodyPr>
          <a:lstStyle/>
          <a:p>
            <a:pPr>
              <a:spcAft>
                <a:spcPts val="800"/>
              </a:spcAft>
              <a:defRPr sz="1900" b="1">
                <a:solidFill>
                  <a:srgbClr val="FFB454"/>
                </a:solidFill>
                <a:latin typeface="Aptos"/>
              </a:defRPr>
            </a:pPr>
            <a:r>
              <a:t>Exakte Suche</a:t>
            </a:r>
          </a:p>
        </p:txBody>
      </p:sp>
      <p:sp>
        <p:nvSpPr>
          <p:cNvPr id="10" name="TextBox 9"/>
          <p:cNvSpPr txBox="1"/>
          <p:nvPr/>
        </p:nvSpPr>
        <p:spPr>
          <a:xfrm>
            <a:off x="914400" y="2843784"/>
            <a:ext cx="4809744" cy="768096"/>
          </a:xfrm>
          <a:prstGeom prst="rect">
            <a:avLst/>
          </a:prstGeom>
          <a:noFill/>
        </p:spPr>
        <p:txBody>
          <a:bodyPr wrap="square">
            <a:spAutoFit/>
          </a:bodyPr>
          <a:lstStyle/>
          <a:p>
            <a:pPr>
              <a:spcAft>
                <a:spcPts val="800"/>
              </a:spcAft>
              <a:defRPr sz="1600" b="0">
                <a:solidFill>
                  <a:srgbClr val="F5F8FC"/>
                </a:solidFill>
                <a:latin typeface="Aptos"/>
              </a:defRPr>
            </a:pPr>
            <a:r>
              <a:t>Andere Formulierungen können Treffer verhindern.</a:t>
            </a:r>
          </a:p>
        </p:txBody>
      </p:sp>
      <p:sp>
        <p:nvSpPr>
          <p:cNvPr id="11" name="Rounded Rectangle 10"/>
          <p:cNvSpPr/>
          <p:nvPr/>
        </p:nvSpPr>
        <p:spPr>
          <a:xfrm>
            <a:off x="6190488" y="2148840"/>
            <a:ext cx="5248656" cy="153619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9944" y="2331720"/>
            <a:ext cx="4837176" cy="393192"/>
          </a:xfrm>
          <a:prstGeom prst="rect">
            <a:avLst/>
          </a:prstGeom>
          <a:noFill/>
        </p:spPr>
        <p:txBody>
          <a:bodyPr wrap="square">
            <a:spAutoFit/>
          </a:bodyPr>
          <a:lstStyle/>
          <a:p>
            <a:pPr>
              <a:spcAft>
                <a:spcPts val="800"/>
              </a:spcAft>
              <a:defRPr sz="1900" b="1">
                <a:solidFill>
                  <a:srgbClr val="FF7479"/>
                </a:solidFill>
                <a:latin typeface="Aptos"/>
              </a:defRPr>
            </a:pPr>
            <a:r>
              <a:t>Technischer Fallback</a:t>
            </a:r>
          </a:p>
        </p:txBody>
      </p:sp>
      <p:sp>
        <p:nvSpPr>
          <p:cNvPr id="13" name="TextBox 12"/>
          <p:cNvSpPr txBox="1"/>
          <p:nvPr/>
        </p:nvSpPr>
        <p:spPr>
          <a:xfrm>
            <a:off x="6409944" y="2843784"/>
            <a:ext cx="4809744" cy="768096"/>
          </a:xfrm>
          <a:prstGeom prst="rect">
            <a:avLst/>
          </a:prstGeom>
          <a:noFill/>
        </p:spPr>
        <p:txBody>
          <a:bodyPr wrap="square">
            <a:spAutoFit/>
          </a:bodyPr>
          <a:lstStyle/>
          <a:p>
            <a:pPr>
              <a:spcAft>
                <a:spcPts val="800"/>
              </a:spcAft>
              <a:defRPr sz="1600" b="0">
                <a:solidFill>
                  <a:srgbClr val="F5F8FC"/>
                </a:solidFill>
                <a:latin typeface="Aptos"/>
              </a:defRPr>
            </a:pPr>
            <a:r>
              <a:t>Notion-Ausfall ≠ „kein Treffer“ – noch nicht getrennt.</a:t>
            </a:r>
          </a:p>
        </p:txBody>
      </p:sp>
      <p:sp>
        <p:nvSpPr>
          <p:cNvPr id="14" name="Rounded Rectangle 13"/>
          <p:cNvSpPr/>
          <p:nvPr/>
        </p:nvSpPr>
        <p:spPr>
          <a:xfrm>
            <a:off x="694944" y="3886200"/>
            <a:ext cx="5248656" cy="153619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4069080"/>
            <a:ext cx="4837176" cy="393192"/>
          </a:xfrm>
          <a:prstGeom prst="rect">
            <a:avLst/>
          </a:prstGeom>
          <a:noFill/>
        </p:spPr>
        <p:txBody>
          <a:bodyPr wrap="square">
            <a:spAutoFit/>
          </a:bodyPr>
          <a:lstStyle/>
          <a:p>
            <a:pPr>
              <a:spcAft>
                <a:spcPts val="800"/>
              </a:spcAft>
              <a:defRPr sz="1900" b="1">
                <a:solidFill>
                  <a:srgbClr val="FFB454"/>
                </a:solidFill>
                <a:latin typeface="Aptos"/>
              </a:defRPr>
            </a:pPr>
            <a:r>
              <a:t>Protokollierung &amp; Rollen</a:t>
            </a:r>
          </a:p>
        </p:txBody>
      </p:sp>
      <p:sp>
        <p:nvSpPr>
          <p:cNvPr id="16" name="TextBox 15"/>
          <p:cNvSpPr txBox="1"/>
          <p:nvPr/>
        </p:nvSpPr>
        <p:spPr>
          <a:xfrm>
            <a:off x="914400" y="4581144"/>
            <a:ext cx="4809744" cy="768096"/>
          </a:xfrm>
          <a:prstGeom prst="rect">
            <a:avLst/>
          </a:prstGeom>
          <a:noFill/>
        </p:spPr>
        <p:txBody>
          <a:bodyPr wrap="square">
            <a:spAutoFit/>
          </a:bodyPr>
          <a:lstStyle/>
          <a:p>
            <a:pPr>
              <a:spcAft>
                <a:spcPts val="800"/>
              </a:spcAft>
              <a:defRPr sz="1600" b="0">
                <a:solidFill>
                  <a:srgbClr val="F5F8FC"/>
                </a:solidFill>
                <a:latin typeface="Aptos"/>
              </a:defRPr>
            </a:pPr>
            <a:r>
              <a:t>Im Prototyp nicht vollständig produktionsreif.</a:t>
            </a:r>
          </a:p>
        </p:txBody>
      </p:sp>
      <p:sp>
        <p:nvSpPr>
          <p:cNvPr id="17" name="Rounded Rectangle 16"/>
          <p:cNvSpPr/>
          <p:nvPr/>
        </p:nvSpPr>
        <p:spPr>
          <a:xfrm>
            <a:off x="6190488" y="3886200"/>
            <a:ext cx="5248656" cy="1536192"/>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9944" y="4069080"/>
            <a:ext cx="4837176" cy="393192"/>
          </a:xfrm>
          <a:prstGeom prst="rect">
            <a:avLst/>
          </a:prstGeom>
          <a:noFill/>
        </p:spPr>
        <p:txBody>
          <a:bodyPr wrap="square">
            <a:spAutoFit/>
          </a:bodyPr>
          <a:lstStyle/>
          <a:p>
            <a:pPr>
              <a:spcAft>
                <a:spcPts val="800"/>
              </a:spcAft>
              <a:defRPr sz="1900" b="1">
                <a:solidFill>
                  <a:srgbClr val="FF7479"/>
                </a:solidFill>
                <a:latin typeface="Aptos"/>
              </a:defRPr>
            </a:pPr>
            <a:r>
              <a:t>Sensible Anfragen</a:t>
            </a:r>
          </a:p>
        </p:txBody>
      </p:sp>
      <p:sp>
        <p:nvSpPr>
          <p:cNvPr id="19" name="TextBox 18"/>
          <p:cNvSpPr txBox="1"/>
          <p:nvPr/>
        </p:nvSpPr>
        <p:spPr>
          <a:xfrm>
            <a:off x="6409944" y="4581144"/>
            <a:ext cx="4809744" cy="768096"/>
          </a:xfrm>
          <a:prstGeom prst="rect">
            <a:avLst/>
          </a:prstGeom>
          <a:noFill/>
        </p:spPr>
        <p:txBody>
          <a:bodyPr wrap="square">
            <a:spAutoFit/>
          </a:bodyPr>
          <a:lstStyle/>
          <a:p>
            <a:pPr>
              <a:spcAft>
                <a:spcPts val="800"/>
              </a:spcAft>
              <a:defRPr sz="1600" b="0">
                <a:solidFill>
                  <a:srgbClr val="F5F8FC"/>
                </a:solidFill>
                <a:latin typeface="Aptos"/>
              </a:defRPr>
            </a:pPr>
            <a:r>
              <a:t>Automatischer Vorfilter muss ergänzt werden.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Live-Demo: SmartDesk in n8n</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Jetzt zeige ich den echten Workflow – nicht nur Folien</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09  /  11</a:t>
            </a:r>
          </a:p>
        </p:txBody>
      </p:sp>
      <p:sp>
        <p:nvSpPr>
          <p:cNvPr id="8" name="Rounded Rectangle 7"/>
          <p:cNvSpPr/>
          <p:nvPr/>
        </p:nvSpPr>
        <p:spPr>
          <a:xfrm>
            <a:off x="713232" y="2194560"/>
            <a:ext cx="5212080" cy="141732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377440"/>
            <a:ext cx="4800600" cy="393192"/>
          </a:xfrm>
          <a:prstGeom prst="rect">
            <a:avLst/>
          </a:prstGeom>
          <a:noFill/>
        </p:spPr>
        <p:txBody>
          <a:bodyPr wrap="square">
            <a:spAutoFit/>
          </a:bodyPr>
          <a:lstStyle/>
          <a:p>
            <a:pPr>
              <a:spcAft>
                <a:spcPts val="800"/>
              </a:spcAft>
              <a:defRPr sz="1900" b="1">
                <a:solidFill>
                  <a:srgbClr val="30D8BB"/>
                </a:solidFill>
                <a:latin typeface="Aptos"/>
              </a:defRPr>
            </a:pPr>
            <a:r>
              <a:t>A</a:t>
            </a:r>
          </a:p>
        </p:txBody>
      </p:sp>
      <p:sp>
        <p:nvSpPr>
          <p:cNvPr id="10" name="TextBox 9"/>
          <p:cNvSpPr txBox="1"/>
          <p:nvPr/>
        </p:nvSpPr>
        <p:spPr>
          <a:xfrm>
            <a:off x="932688" y="2889504"/>
            <a:ext cx="4773168" cy="649224"/>
          </a:xfrm>
          <a:prstGeom prst="rect">
            <a:avLst/>
          </a:prstGeom>
          <a:noFill/>
        </p:spPr>
        <p:txBody>
          <a:bodyPr wrap="square">
            <a:spAutoFit/>
          </a:bodyPr>
          <a:lstStyle/>
          <a:p>
            <a:pPr>
              <a:spcAft>
                <a:spcPts val="800"/>
              </a:spcAft>
              <a:defRPr sz="1600" b="0">
                <a:solidFill>
                  <a:srgbClr val="F5F8FC"/>
                </a:solidFill>
                <a:latin typeface="Aptos"/>
              </a:defRPr>
            </a:pPr>
            <a:r>
              <a:t>Workflow zeigen</a:t>
            </a:r>
          </a:p>
        </p:txBody>
      </p:sp>
      <p:sp>
        <p:nvSpPr>
          <p:cNvPr id="11" name="Rounded Rectangle 10"/>
          <p:cNvSpPr/>
          <p:nvPr/>
        </p:nvSpPr>
        <p:spPr>
          <a:xfrm>
            <a:off x="6227064" y="2194560"/>
            <a:ext cx="5212080" cy="141732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377440"/>
            <a:ext cx="4800600" cy="393192"/>
          </a:xfrm>
          <a:prstGeom prst="rect">
            <a:avLst/>
          </a:prstGeom>
          <a:noFill/>
        </p:spPr>
        <p:txBody>
          <a:bodyPr wrap="square">
            <a:spAutoFit/>
          </a:bodyPr>
          <a:lstStyle/>
          <a:p>
            <a:pPr>
              <a:spcAft>
                <a:spcPts val="800"/>
              </a:spcAft>
              <a:defRPr sz="1900" b="1">
                <a:solidFill>
                  <a:srgbClr val="30D8BB"/>
                </a:solidFill>
                <a:latin typeface="Aptos"/>
              </a:defRPr>
            </a:pPr>
            <a:r>
              <a:t>B</a:t>
            </a:r>
          </a:p>
        </p:txBody>
      </p:sp>
      <p:sp>
        <p:nvSpPr>
          <p:cNvPr id="13" name="TextBox 12"/>
          <p:cNvSpPr txBox="1"/>
          <p:nvPr/>
        </p:nvSpPr>
        <p:spPr>
          <a:xfrm>
            <a:off x="6446520" y="2889504"/>
            <a:ext cx="4773168" cy="649224"/>
          </a:xfrm>
          <a:prstGeom prst="rect">
            <a:avLst/>
          </a:prstGeom>
          <a:noFill/>
        </p:spPr>
        <p:txBody>
          <a:bodyPr wrap="square">
            <a:spAutoFit/>
          </a:bodyPr>
          <a:lstStyle/>
          <a:p>
            <a:pPr>
              <a:spcAft>
                <a:spcPts val="800"/>
              </a:spcAft>
              <a:defRPr sz="1600" b="0">
                <a:solidFill>
                  <a:srgbClr val="F5F8FC"/>
                </a:solidFill>
                <a:latin typeface="Aptos"/>
              </a:defRPr>
            </a:pPr>
            <a:r>
              <a:t>Treffer testen</a:t>
            </a:r>
          </a:p>
        </p:txBody>
      </p:sp>
      <p:sp>
        <p:nvSpPr>
          <p:cNvPr id="14" name="Rounded Rectangle 13"/>
          <p:cNvSpPr/>
          <p:nvPr/>
        </p:nvSpPr>
        <p:spPr>
          <a:xfrm>
            <a:off x="713232" y="3776472"/>
            <a:ext cx="5212080" cy="141732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3959352"/>
            <a:ext cx="4800600" cy="393192"/>
          </a:xfrm>
          <a:prstGeom prst="rect">
            <a:avLst/>
          </a:prstGeom>
          <a:noFill/>
        </p:spPr>
        <p:txBody>
          <a:bodyPr wrap="square">
            <a:spAutoFit/>
          </a:bodyPr>
          <a:lstStyle/>
          <a:p>
            <a:pPr>
              <a:spcAft>
                <a:spcPts val="800"/>
              </a:spcAft>
              <a:defRPr sz="1900" b="1">
                <a:solidFill>
                  <a:srgbClr val="30D8BB"/>
                </a:solidFill>
                <a:latin typeface="Aptos"/>
              </a:defRPr>
            </a:pPr>
            <a:r>
              <a:t>C</a:t>
            </a:r>
          </a:p>
        </p:txBody>
      </p:sp>
      <p:sp>
        <p:nvSpPr>
          <p:cNvPr id="16" name="TextBox 15"/>
          <p:cNvSpPr txBox="1"/>
          <p:nvPr/>
        </p:nvSpPr>
        <p:spPr>
          <a:xfrm>
            <a:off x="932688" y="4471416"/>
            <a:ext cx="4773168" cy="649224"/>
          </a:xfrm>
          <a:prstGeom prst="rect">
            <a:avLst/>
          </a:prstGeom>
          <a:noFill/>
        </p:spPr>
        <p:txBody>
          <a:bodyPr wrap="square">
            <a:spAutoFit/>
          </a:bodyPr>
          <a:lstStyle/>
          <a:p>
            <a:pPr>
              <a:spcAft>
                <a:spcPts val="800"/>
              </a:spcAft>
              <a:defRPr sz="1600" b="0">
                <a:solidFill>
                  <a:srgbClr val="F5F8FC"/>
                </a:solidFill>
                <a:latin typeface="Aptos"/>
              </a:defRPr>
            </a:pPr>
            <a:r>
              <a:t>Freigabe demonstrieren</a:t>
            </a:r>
          </a:p>
        </p:txBody>
      </p:sp>
      <p:sp>
        <p:nvSpPr>
          <p:cNvPr id="17" name="Rounded Rectangle 16"/>
          <p:cNvSpPr/>
          <p:nvPr/>
        </p:nvSpPr>
        <p:spPr>
          <a:xfrm>
            <a:off x="6227064" y="3776472"/>
            <a:ext cx="5212080" cy="1417320"/>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959352"/>
            <a:ext cx="4800600" cy="393192"/>
          </a:xfrm>
          <a:prstGeom prst="rect">
            <a:avLst/>
          </a:prstGeom>
          <a:noFill/>
        </p:spPr>
        <p:txBody>
          <a:bodyPr wrap="square">
            <a:spAutoFit/>
          </a:bodyPr>
          <a:lstStyle/>
          <a:p>
            <a:pPr>
              <a:spcAft>
                <a:spcPts val="800"/>
              </a:spcAft>
              <a:defRPr sz="1900" b="1">
                <a:solidFill>
                  <a:srgbClr val="30D8BB"/>
                </a:solidFill>
                <a:latin typeface="Aptos"/>
              </a:defRPr>
            </a:pPr>
            <a:r>
              <a:t>D</a:t>
            </a:r>
          </a:p>
        </p:txBody>
      </p:sp>
      <p:sp>
        <p:nvSpPr>
          <p:cNvPr id="19" name="TextBox 18"/>
          <p:cNvSpPr txBox="1"/>
          <p:nvPr/>
        </p:nvSpPr>
        <p:spPr>
          <a:xfrm>
            <a:off x="6446520" y="4471416"/>
            <a:ext cx="4773168" cy="649224"/>
          </a:xfrm>
          <a:prstGeom prst="rect">
            <a:avLst/>
          </a:prstGeom>
          <a:noFill/>
        </p:spPr>
        <p:txBody>
          <a:bodyPr wrap="square">
            <a:spAutoFit/>
          </a:bodyPr>
          <a:lstStyle/>
          <a:p>
            <a:pPr>
              <a:spcAft>
                <a:spcPts val="800"/>
              </a:spcAft>
              <a:defRPr sz="1600" b="0">
                <a:solidFill>
                  <a:srgbClr val="F5F8FC"/>
                </a:solidFill>
                <a:latin typeface="Aptos"/>
              </a:defRPr>
            </a:pPr>
            <a:r>
              <a:t>Eskalation erklären</a:t>
            </a:r>
          </a:p>
        </p:txBody>
      </p:sp>
      <p:sp>
        <p:nvSpPr>
          <p:cNvPr id="20" name="TextBox 19"/>
          <p:cNvSpPr txBox="1"/>
          <p:nvPr/>
        </p:nvSpPr>
        <p:spPr>
          <a:xfrm>
            <a:off x="786384" y="5532120"/>
            <a:ext cx="10652760" cy="512064"/>
          </a:xfrm>
          <a:prstGeom prst="rect">
            <a:avLst/>
          </a:prstGeom>
          <a:noFill/>
        </p:spPr>
        <p:txBody>
          <a:bodyPr wrap="square">
            <a:spAutoFit/>
          </a:bodyPr>
          <a:lstStyle/>
          <a:p>
            <a:pPr>
              <a:spcAft>
                <a:spcPts val="800"/>
              </a:spcAft>
              <a:defRPr sz="1500" b="1">
                <a:solidFill>
                  <a:srgbClr val="30D8BB"/>
                </a:solidFill>
                <a:latin typeface="Aptos"/>
              </a:defRPr>
            </a:pPr>
            <a:r>
              <a:t>Testanfrage: „Passwort zurücksetzen“  →  Notion-Treffer  →  KI-Vorschlag  →  Freigabe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Pilot-Ergebnisse: Was hat sich verbessert?</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Fiktive 8-Wochen-Pilotdaten aus der Aufgabenstellung</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10  /  11</a:t>
            </a:r>
          </a:p>
        </p:txBody>
      </p:sp>
      <p:sp>
        <p:nvSpPr>
          <p:cNvPr id="8" name="Rounded Rectangle 7"/>
          <p:cNvSpPr/>
          <p:nvPr/>
        </p:nvSpPr>
        <p:spPr>
          <a:xfrm>
            <a:off x="694944" y="2139696"/>
            <a:ext cx="3456432" cy="2304288"/>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322576"/>
            <a:ext cx="3044951" cy="393192"/>
          </a:xfrm>
          <a:prstGeom prst="rect">
            <a:avLst/>
          </a:prstGeom>
          <a:noFill/>
        </p:spPr>
        <p:txBody>
          <a:bodyPr wrap="square">
            <a:spAutoFit/>
          </a:bodyPr>
          <a:lstStyle/>
          <a:p>
            <a:pPr>
              <a:spcAft>
                <a:spcPts val="800"/>
              </a:spcAft>
              <a:defRPr sz="1900" b="1">
                <a:solidFill>
                  <a:srgbClr val="30D8BB"/>
                </a:solidFill>
                <a:latin typeface="Aptos"/>
              </a:defRPr>
            </a:pPr>
            <a:r>
              <a:t>38 Minuten</a:t>
            </a:r>
          </a:p>
        </p:txBody>
      </p:sp>
      <p:sp>
        <p:nvSpPr>
          <p:cNvPr id="10" name="TextBox 9"/>
          <p:cNvSpPr txBox="1"/>
          <p:nvPr/>
        </p:nvSpPr>
        <p:spPr>
          <a:xfrm>
            <a:off x="914400" y="2834639"/>
            <a:ext cx="3017520" cy="1536192"/>
          </a:xfrm>
          <a:prstGeom prst="rect">
            <a:avLst/>
          </a:prstGeom>
          <a:noFill/>
        </p:spPr>
        <p:txBody>
          <a:bodyPr wrap="square">
            <a:spAutoFit/>
          </a:bodyPr>
          <a:lstStyle/>
          <a:p>
            <a:pPr>
              <a:spcAft>
                <a:spcPts val="800"/>
              </a:spcAft>
              <a:defRPr sz="1600" b="0">
                <a:solidFill>
                  <a:srgbClr val="F5F8FC"/>
                </a:solidFill>
                <a:latin typeface="Aptos"/>
              </a:defRPr>
            </a:pPr>
            <a:r>
              <a:t>Erste Reaktion</a:t>
            </a:r>
          </a:p>
          <a:p>
            <a:pPr>
              <a:spcAft>
                <a:spcPts val="800"/>
              </a:spcAft>
              <a:defRPr sz="1600" b="0">
                <a:solidFill>
                  <a:srgbClr val="F5F8FC"/>
                </a:solidFill>
                <a:latin typeface="Aptos"/>
              </a:defRPr>
            </a:pPr>
            <a:r>
              <a:t>vorher: 3 Std. 20 Min.</a:t>
            </a:r>
          </a:p>
        </p:txBody>
      </p:sp>
      <p:sp>
        <p:nvSpPr>
          <p:cNvPr id="11" name="Rounded Rectangle 10"/>
          <p:cNvSpPr/>
          <p:nvPr/>
        </p:nvSpPr>
        <p:spPr>
          <a:xfrm>
            <a:off x="4361688" y="2139696"/>
            <a:ext cx="3456432" cy="2304288"/>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81144" y="2322576"/>
            <a:ext cx="3044951" cy="393192"/>
          </a:xfrm>
          <a:prstGeom prst="rect">
            <a:avLst/>
          </a:prstGeom>
          <a:noFill/>
        </p:spPr>
        <p:txBody>
          <a:bodyPr wrap="square">
            <a:spAutoFit/>
          </a:bodyPr>
          <a:lstStyle/>
          <a:p>
            <a:pPr>
              <a:spcAft>
                <a:spcPts val="800"/>
              </a:spcAft>
              <a:defRPr sz="1900" b="1">
                <a:solidFill>
                  <a:srgbClr val="30D8BB"/>
                </a:solidFill>
                <a:latin typeface="Aptos"/>
              </a:defRPr>
            </a:pPr>
            <a:r>
              <a:t>94 %</a:t>
            </a:r>
          </a:p>
        </p:txBody>
      </p:sp>
      <p:sp>
        <p:nvSpPr>
          <p:cNvPr id="13" name="TextBox 12"/>
          <p:cNvSpPr txBox="1"/>
          <p:nvPr/>
        </p:nvSpPr>
        <p:spPr>
          <a:xfrm>
            <a:off x="4581144" y="2834639"/>
            <a:ext cx="3017520" cy="1536192"/>
          </a:xfrm>
          <a:prstGeom prst="rect">
            <a:avLst/>
          </a:prstGeom>
          <a:noFill/>
        </p:spPr>
        <p:txBody>
          <a:bodyPr wrap="square">
            <a:spAutoFit/>
          </a:bodyPr>
          <a:lstStyle/>
          <a:p>
            <a:pPr>
              <a:spcAft>
                <a:spcPts val="800"/>
              </a:spcAft>
              <a:defRPr sz="1600" b="0">
                <a:solidFill>
                  <a:srgbClr val="F5F8FC"/>
                </a:solidFill>
                <a:latin typeface="Aptos"/>
              </a:defRPr>
            </a:pPr>
            <a:r>
              <a:t>Dokumentation vollständig</a:t>
            </a:r>
          </a:p>
          <a:p>
            <a:pPr>
              <a:spcAft>
                <a:spcPts val="800"/>
              </a:spcAft>
              <a:defRPr sz="1600" b="0">
                <a:solidFill>
                  <a:srgbClr val="F5F8FC"/>
                </a:solidFill>
                <a:latin typeface="Aptos"/>
              </a:defRPr>
            </a:pPr>
            <a:r>
              <a:t>vorher: 64 %</a:t>
            </a:r>
          </a:p>
        </p:txBody>
      </p:sp>
      <p:sp>
        <p:nvSpPr>
          <p:cNvPr id="14" name="Rounded Rectangle 13"/>
          <p:cNvSpPr/>
          <p:nvPr/>
        </p:nvSpPr>
        <p:spPr>
          <a:xfrm>
            <a:off x="8019288" y="2139696"/>
            <a:ext cx="3456432" cy="2304288"/>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38744" y="2322576"/>
            <a:ext cx="3044951" cy="393192"/>
          </a:xfrm>
          <a:prstGeom prst="rect">
            <a:avLst/>
          </a:prstGeom>
          <a:noFill/>
        </p:spPr>
        <p:txBody>
          <a:bodyPr wrap="square">
            <a:spAutoFit/>
          </a:bodyPr>
          <a:lstStyle/>
          <a:p>
            <a:pPr>
              <a:spcAft>
                <a:spcPts val="800"/>
              </a:spcAft>
              <a:defRPr sz="1900" b="1">
                <a:solidFill>
                  <a:srgbClr val="30D8BB"/>
                </a:solidFill>
                <a:latin typeface="Aptos"/>
              </a:defRPr>
            </a:pPr>
            <a:r>
              <a:t>0</a:t>
            </a:r>
          </a:p>
        </p:txBody>
      </p:sp>
      <p:sp>
        <p:nvSpPr>
          <p:cNvPr id="16" name="TextBox 15"/>
          <p:cNvSpPr txBox="1"/>
          <p:nvPr/>
        </p:nvSpPr>
        <p:spPr>
          <a:xfrm>
            <a:off x="8238744" y="2834639"/>
            <a:ext cx="3017520" cy="1536192"/>
          </a:xfrm>
          <a:prstGeom prst="rect">
            <a:avLst/>
          </a:prstGeom>
          <a:noFill/>
        </p:spPr>
        <p:txBody>
          <a:bodyPr wrap="square">
            <a:spAutoFit/>
          </a:bodyPr>
          <a:lstStyle/>
          <a:p>
            <a:pPr>
              <a:spcAft>
                <a:spcPts val="800"/>
              </a:spcAft>
              <a:defRPr sz="1600" b="0">
                <a:solidFill>
                  <a:srgbClr val="F5F8FC"/>
                </a:solidFill>
                <a:latin typeface="Aptos"/>
              </a:defRPr>
            </a:pPr>
            <a:r>
              <a:t>Ungeprüfte KI-Antworten</a:t>
            </a:r>
          </a:p>
          <a:p>
            <a:pPr>
              <a:spcAft>
                <a:spcPts val="800"/>
              </a:spcAft>
              <a:defRPr sz="1600" b="0">
                <a:solidFill>
                  <a:srgbClr val="F5F8FC"/>
                </a:solidFill>
                <a:latin typeface="Aptos"/>
              </a:defRPr>
            </a:pPr>
            <a:r>
              <a:t>im Pilot</a:t>
            </a:r>
          </a:p>
        </p:txBody>
      </p:sp>
      <p:sp>
        <p:nvSpPr>
          <p:cNvPr id="17" name="TextBox 16"/>
          <p:cNvSpPr txBox="1"/>
          <p:nvPr/>
        </p:nvSpPr>
        <p:spPr>
          <a:xfrm>
            <a:off x="777240" y="5029200"/>
            <a:ext cx="10515600" cy="457200"/>
          </a:xfrm>
          <a:prstGeom prst="rect">
            <a:avLst/>
          </a:prstGeom>
          <a:noFill/>
        </p:spPr>
        <p:txBody>
          <a:bodyPr wrap="square">
            <a:spAutoFit/>
          </a:bodyPr>
          <a:lstStyle/>
          <a:p>
            <a:pPr>
              <a:spcAft>
                <a:spcPts val="800"/>
              </a:spcAft>
              <a:defRPr sz="2000" b="1">
                <a:solidFill>
                  <a:srgbClr val="FFB454"/>
                </a:solidFill>
                <a:latin typeface="Aptos"/>
              </a:defRPr>
            </a:pPr>
            <a:r>
              <a:t>Offen: 8,5 Min. Bearbeitungszeit statt Ziel ≤ 8 Min.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627"/>
        </a:solidFill>
        <a:effectLst/>
      </p:bgPr>
    </p:bg>
    <p:spTree>
      <p:nvGrpSpPr>
        <p:cNvPr id="1" name=""/>
        <p:cNvGrpSpPr/>
        <p:nvPr/>
      </p:nvGrpSpPr>
      <p:grpSpPr>
        <a:xfrm>
          <a:off x="0" y="0"/>
          <a:ext cx="0" cy="0"/>
          <a:chOff x="0" y="0"/>
          <a:chExt cx="0" cy="0"/>
        </a:xfrm>
      </p:grpSpPr>
      <p:sp>
        <p:nvSpPr>
          <p:cNvPr id="2" name="TextBox 1"/>
          <p:cNvSpPr txBox="1"/>
          <p:nvPr/>
        </p:nvSpPr>
        <p:spPr>
          <a:xfrm>
            <a:off x="566928" y="246888"/>
            <a:ext cx="9144000" cy="274320"/>
          </a:xfrm>
          <a:prstGeom prst="rect">
            <a:avLst/>
          </a:prstGeom>
          <a:noFill/>
        </p:spPr>
        <p:txBody>
          <a:bodyPr wrap="square">
            <a:spAutoFit/>
          </a:bodyPr>
          <a:lstStyle/>
          <a:p>
            <a:pPr>
              <a:spcAft>
                <a:spcPts val="800"/>
              </a:spcAft>
              <a:defRPr sz="1100" b="1">
                <a:solidFill>
                  <a:srgbClr val="30D8BB"/>
                </a:solidFill>
                <a:latin typeface="Aptos"/>
              </a:defRPr>
            </a:pPr>
            <a:r>
              <a:t>MICHI’S SMARTDESK  /  ABSCHLUSSPROJEKT</a:t>
            </a:r>
          </a:p>
        </p:txBody>
      </p:sp>
      <p:sp>
        <p:nvSpPr>
          <p:cNvPr id="3" name="TextBox 2"/>
          <p:cNvSpPr txBox="1"/>
          <p:nvPr/>
        </p:nvSpPr>
        <p:spPr>
          <a:xfrm>
            <a:off x="566928" y="786384"/>
            <a:ext cx="10972800" cy="731520"/>
          </a:xfrm>
          <a:prstGeom prst="rect">
            <a:avLst/>
          </a:prstGeom>
          <a:noFill/>
        </p:spPr>
        <p:txBody>
          <a:bodyPr wrap="square">
            <a:spAutoFit/>
          </a:bodyPr>
          <a:lstStyle/>
          <a:p>
            <a:pPr>
              <a:spcAft>
                <a:spcPts val="800"/>
              </a:spcAft>
              <a:defRPr sz="3100" b="1">
                <a:solidFill>
                  <a:srgbClr val="F5F8FC"/>
                </a:solidFill>
                <a:latin typeface="Aptos"/>
              </a:defRPr>
            </a:pPr>
            <a:r>
              <a:t>Fazit: Rollout unter Bedingungen</a:t>
            </a:r>
          </a:p>
        </p:txBody>
      </p:sp>
      <p:sp>
        <p:nvSpPr>
          <p:cNvPr id="4" name="TextBox 3"/>
          <p:cNvSpPr txBox="1"/>
          <p:nvPr/>
        </p:nvSpPr>
        <p:spPr>
          <a:xfrm>
            <a:off x="594360" y="1536192"/>
            <a:ext cx="10972800" cy="438912"/>
          </a:xfrm>
          <a:prstGeom prst="rect">
            <a:avLst/>
          </a:prstGeom>
          <a:noFill/>
        </p:spPr>
        <p:txBody>
          <a:bodyPr wrap="square">
            <a:spAutoFit/>
          </a:bodyPr>
          <a:lstStyle/>
          <a:p>
            <a:pPr>
              <a:spcAft>
                <a:spcPts val="800"/>
              </a:spcAft>
              <a:defRPr sz="1500" b="0">
                <a:solidFill>
                  <a:srgbClr val="ACC0D3"/>
                </a:solidFill>
                <a:latin typeface="Aptos"/>
              </a:defRPr>
            </a:pPr>
            <a:r>
              <a:t>Mehr Nutzen – aber nur mit klaren Schutzmaßnahmen</a:t>
            </a:r>
          </a:p>
        </p:txBody>
      </p:sp>
      <p:sp>
        <p:nvSpPr>
          <p:cNvPr id="5" name="Rounded Rectangle 4"/>
          <p:cNvSpPr/>
          <p:nvPr/>
        </p:nvSpPr>
        <p:spPr>
          <a:xfrm>
            <a:off x="594360" y="6437376"/>
            <a:ext cx="10972800" cy="10972"/>
          </a:xfrm>
          <a:prstGeom prst="roundRect">
            <a:avLst/>
          </a:prstGeom>
          <a:solidFill>
            <a:srgbClr val="30D8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7315200" cy="228600"/>
          </a:xfrm>
          <a:prstGeom prst="rect">
            <a:avLst/>
          </a:prstGeom>
          <a:noFill/>
        </p:spPr>
        <p:txBody>
          <a:bodyPr wrap="square">
            <a:spAutoFit/>
          </a:bodyPr>
          <a:lstStyle/>
          <a:p>
            <a:pPr>
              <a:spcAft>
                <a:spcPts val="800"/>
              </a:spcAft>
              <a:defRPr sz="1000" b="0">
                <a:solidFill>
                  <a:srgbClr val="ACC0D3"/>
                </a:solidFill>
                <a:latin typeface="Aptos"/>
              </a:defRPr>
            </a:pPr>
            <a:r>
              <a:t>KI-Integrationsmanager  •  Präsentation Tag 9</a:t>
            </a:r>
          </a:p>
        </p:txBody>
      </p:sp>
      <p:sp>
        <p:nvSpPr>
          <p:cNvPr id="7" name="TextBox 6"/>
          <p:cNvSpPr txBox="1"/>
          <p:nvPr/>
        </p:nvSpPr>
        <p:spPr>
          <a:xfrm>
            <a:off x="10680192" y="6492240"/>
            <a:ext cx="914400" cy="256032"/>
          </a:xfrm>
          <a:prstGeom prst="rect">
            <a:avLst/>
          </a:prstGeom>
          <a:noFill/>
        </p:spPr>
        <p:txBody>
          <a:bodyPr wrap="square">
            <a:spAutoFit/>
          </a:bodyPr>
          <a:lstStyle/>
          <a:p>
            <a:pPr algn="r">
              <a:spcAft>
                <a:spcPts val="800"/>
              </a:spcAft>
              <a:defRPr sz="1100" b="1">
                <a:solidFill>
                  <a:srgbClr val="30D8BB"/>
                </a:solidFill>
                <a:latin typeface="Aptos"/>
              </a:defRPr>
            </a:pPr>
            <a:r>
              <a:t>11  /  11</a:t>
            </a:r>
          </a:p>
        </p:txBody>
      </p:sp>
      <p:sp>
        <p:nvSpPr>
          <p:cNvPr id="8" name="Rounded Rectangle 7"/>
          <p:cNvSpPr/>
          <p:nvPr/>
        </p:nvSpPr>
        <p:spPr>
          <a:xfrm>
            <a:off x="777240" y="2121408"/>
            <a:ext cx="10607040" cy="1152144"/>
          </a:xfrm>
          <a:prstGeom prst="roundRect">
            <a:avLst/>
          </a:prstGeom>
          <a:solidFill>
            <a:srgbClr val="1827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414016"/>
            <a:ext cx="10104120" cy="603504"/>
          </a:xfrm>
          <a:prstGeom prst="rect">
            <a:avLst/>
          </a:prstGeom>
          <a:noFill/>
        </p:spPr>
        <p:txBody>
          <a:bodyPr wrap="square">
            <a:spAutoFit/>
          </a:bodyPr>
          <a:lstStyle/>
          <a:p>
            <a:pPr>
              <a:spcAft>
                <a:spcPts val="800"/>
              </a:spcAft>
              <a:defRPr sz="2300" b="1">
                <a:solidFill>
                  <a:srgbClr val="30D8BB"/>
                </a:solidFill>
                <a:latin typeface="Aptos"/>
              </a:defRPr>
            </a:pPr>
            <a:r>
              <a:t>EMPFEHLUNG: SCHRITTWEISER ROLLOUT UNTER BEDINGUNGEN</a:t>
            </a:r>
          </a:p>
        </p:txBody>
      </p:sp>
      <p:sp>
        <p:nvSpPr>
          <p:cNvPr id="10" name="TextBox 9"/>
          <p:cNvSpPr txBox="1"/>
          <p:nvPr/>
        </p:nvSpPr>
        <p:spPr>
          <a:xfrm>
            <a:off x="987552" y="3721608"/>
            <a:ext cx="10241280" cy="1261872"/>
          </a:xfrm>
          <a:prstGeom prst="rect">
            <a:avLst/>
          </a:prstGeom>
          <a:noFill/>
        </p:spPr>
        <p:txBody>
          <a:bodyPr wrap="square">
            <a:spAutoFit/>
          </a:bodyPr>
          <a:lstStyle/>
          <a:p>
            <a:pPr>
              <a:spcAft>
                <a:spcPts val="800"/>
              </a:spcAft>
              <a:defRPr sz="1900" b="0">
                <a:solidFill>
                  <a:srgbClr val="F5F8FC"/>
                </a:solidFill>
                <a:latin typeface="Aptos"/>
              </a:defRPr>
            </a:pPr>
            <a:r>
              <a:t>✓ Menschliche Freigabe     ✓ Sichere Wissensbasis     ✓ Technischer Fallback</a:t>
            </a:r>
          </a:p>
          <a:p>
            <a:pPr>
              <a:spcAft>
                <a:spcPts val="800"/>
              </a:spcAft>
              <a:defRPr sz="1900" b="0">
                <a:solidFill>
                  <a:srgbClr val="F5F8FC"/>
                </a:solidFill>
                <a:latin typeface="Aptos"/>
              </a:defRPr>
            </a:pPr>
            <a:r>
              <a:t>✓ Logging &amp; Zuständigkeiten     ✓ Tests vor Modellwechsel</a:t>
            </a:r>
          </a:p>
        </p:txBody>
      </p:sp>
      <p:sp>
        <p:nvSpPr>
          <p:cNvPr id="11" name="TextBox 10"/>
          <p:cNvSpPr txBox="1"/>
          <p:nvPr/>
        </p:nvSpPr>
        <p:spPr>
          <a:xfrm>
            <a:off x="822960" y="5541264"/>
            <a:ext cx="10607040" cy="548640"/>
          </a:xfrm>
          <a:prstGeom prst="rect">
            <a:avLst/>
          </a:prstGeom>
          <a:noFill/>
        </p:spPr>
        <p:txBody>
          <a:bodyPr wrap="square">
            <a:spAutoFit/>
          </a:bodyPr>
          <a:lstStyle/>
          <a:p>
            <a:pPr>
              <a:spcAft>
                <a:spcPts val="800"/>
              </a:spcAft>
              <a:defRPr sz="2600" b="1">
                <a:solidFill>
                  <a:srgbClr val="FFB454"/>
                </a:solidFill>
                <a:latin typeface="Aptos"/>
              </a:defRPr>
            </a:pPr>
            <a:r>
              <a:t>Vielen Dank!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1057</Words>
  <Application>Microsoft Office PowerPoint</Application>
  <PresentationFormat>Breitbild</PresentationFormat>
  <Paragraphs>171</Paragraphs>
  <Slides>11</Slides>
  <Notes>11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11</vt:i4>
      </vt:variant>
    </vt:vector>
  </HeadingPairs>
  <TitlesOfParts>
    <vt:vector size="14"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Steglich</cp:lastModifiedBy>
  <cp:revision>1</cp:revision>
  <dcterms:created xsi:type="dcterms:W3CDTF">2013-01-27T09:14:16Z</dcterms:created>
  <dcterms:modified xsi:type="dcterms:W3CDTF">2026-10-14T07:13:33Z</dcterms:modified>
  <cp:category/>
</cp:coreProperties>
</file>